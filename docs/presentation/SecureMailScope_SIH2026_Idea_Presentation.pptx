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page in the official SIH idea-submission format. Replace [Enter Team ID] and [Enter Team Name] here, and the team name once in View &gt; Slide Master (the oval at the top-left of every slide). Problem statement details are as published for SIH 2026 (NTRO, Blockchain &amp; Cybersecurity,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email TLS is often misconfigured, and existing tools either decode packets without judging security or actively scan live servers. Our idea: a passive, capture-based workstation that turns a PCAP into a prioritised, evidence-backed security assessment. The screenshot is the working prototype (finding CERT-003 on a lab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capture ingestion and TCP reassembly, protocol identification, STARTTLS state tracking, TLS handshake and X.509 analysis, 19 deterministic rules, posture scoring, and a supplementary Isolation Forest. Everything is stored as one canonical evidence document that feeds the dashboard, the REST API, the three report formats, the evidence bundle and STIX. The analyst works through 8 connected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is demonstrated, not assumed: the prototype exists and is tested. Numbers come from the repository test suite, the lab and public captures, the performance benchmark (1,000,000 packets in 240 s end-to-end on a laptop) and the scripted browser walkthrough. Each known risk has a concrete mitigation already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is on the organisations whose mail infrastructure is assessed; benefits are for the analysts who use the tool. The 0 to 100 before/after result is from our controlled lab pair (same server address, legacy configuration then remediated), not a field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tools fall into two groups. Packet analysers (Wireshark, Zeek, NetworkMiner) are passive and decode mail protocols but do not grade cryptographic posture or produce evidence-linked findings. Active scanners (testssl.sh, Qualys SSL Labs) grade TLS but must connect to live servers and cannot analyse a stored capture; SSL Labs covers public HTTPS servers only. SecureMailScope combines passive capture analysis with posture assessment, evidence traceability and forensic reporting. Comparison based on each tool's public documentation; these tools remain excellent for their own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define what 'secure' means for email TLS (RFC 3207, 2595, 8314, 8996, 9325; NIST SP 800-52r2 and 800-57). The ML component follows the Isolation Forest paper. External validation uses public Wireshark sample captures. Stat tiles reflect the current repository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H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73952"/>
            <a:ext cx="12191695" cy="384048"/>
          </a:xfrm>
          <a:prstGeom prst="rect">
            <a:avLst/>
          </a:prstGeom>
          <a:solidFill>
            <a:srgbClr val="1F6FC0"/>
          </a:solidFill>
          <a:ln/>
        </p:spPr>
      </p:sp>
      <p:sp>
        <p:nvSpPr>
          <p:cNvPr id="3" name="Text 1"/>
          <p:cNvSpPr/>
          <p:nvPr/>
        </p:nvSpPr>
        <p:spPr>
          <a:xfrm>
            <a:off x="3840480" y="6473952"/>
            <a:ext cx="4572000" cy="384048"/>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@SIH Idea submission- Template</a:t>
            </a:r>
            <a:endParaRPr lang="en-US" sz="1200" dirty="0"/>
          </a:p>
        </p:txBody>
      </p:sp>
      <p:pic>
        <p:nvPicPr>
          <p:cNvPr id="4" name="Image 0" descr="C:\Users\kshit\AppData\Local\Temp\claude\C--Users-kshit\d25148f4-3556-4be3-88ed-11744b3548ab\scratchpad\ppt\assets\sih_bulb_small.png">    </p:cNvPr>
          <p:cNvPicPr>
            <a:picLocks noChangeAspect="1"/>
          </p:cNvPicPr>
          <p:nvPr/>
        </p:nvPicPr>
        <p:blipFill>
          <a:blip r:embed="rId1"/>
          <a:stretch>
            <a:fillRect/>
          </a:stretch>
        </p:blipFill>
        <p:spPr>
          <a:xfrm>
            <a:off x="10076688" y="109728"/>
            <a:ext cx="603504" cy="694944"/>
          </a:xfrm>
          <a:prstGeom prst="rect">
            <a:avLst/>
          </a:prstGeom>
        </p:spPr>
      </p:pic>
      <p:sp>
        <p:nvSpPr>
          <p:cNvPr id="5" name="Text 2"/>
          <p:cNvSpPr/>
          <p:nvPr/>
        </p:nvSpPr>
        <p:spPr>
          <a:xfrm>
            <a:off x="10661904" y="91440"/>
            <a:ext cx="1417320" cy="731520"/>
          </a:xfrm>
          <a:prstGeom prst="rect">
            <a:avLst/>
          </a:prstGeom>
          <a:noFill/>
          <a:ln/>
        </p:spPr>
        <p:txBody>
          <a:bodyPr wrap="square" lIns="0" tIns="0" rIns="0" bIns="0" rtlCol="0" anchor="ctr"/>
          <a:lstStyle/>
          <a:p>
            <a:pPr algn="ctr" indent="0" marL="0">
              <a:lnSpc>
                <a:spcPct val="90000"/>
              </a:lnSpc>
              <a:buNone/>
            </a:pPr>
            <a:r>
              <a:rPr lang="en-US" sz="1250" b="1" dirty="0">
                <a:solidFill>
                  <a:srgbClr val="4B5A64"/>
                </a:solidFill>
                <a:latin typeface="Arial" pitchFamily="34" charset="0"/>
                <a:ea typeface="Arial" pitchFamily="34" charset="-122"/>
                <a:cs typeface="Arial" pitchFamily="34" charset="-120"/>
              </a:rPr>
              <a:t>SMART INDIA</a:t>
            </a:r>
            <a:endParaRPr lang="en-US" sz="1250" dirty="0"/>
          </a:p>
          <a:p>
            <a:pPr algn="ctr" indent="0" marL="0">
              <a:lnSpc>
                <a:spcPct val="90000"/>
              </a:lnSpc>
              <a:buNone/>
            </a:pPr>
            <a:r>
              <a:rPr lang="en-US" sz="1250" b="1" dirty="0">
                <a:solidFill>
                  <a:srgbClr val="4B5A64"/>
                </a:solidFill>
                <a:latin typeface="Arial" pitchFamily="34" charset="0"/>
                <a:ea typeface="Arial" pitchFamily="34" charset="-122"/>
                <a:cs typeface="Arial" pitchFamily="34" charset="-120"/>
              </a:rPr>
              <a:t>HACKATHON</a:t>
            </a:r>
            <a:endParaRPr lang="en-US" sz="1250" dirty="0"/>
          </a:p>
          <a:p>
            <a:pPr algn="ctr" indent="0" marL="0">
              <a:lnSpc>
                <a:spcPct val="90000"/>
              </a:lnSpc>
              <a:buNone/>
            </a:pPr>
            <a:r>
              <a:rPr lang="en-US" sz="1250" b="1" dirty="0">
                <a:solidFill>
                  <a:srgbClr val="4B5A64"/>
                </a:solidFill>
                <a:latin typeface="Arial" pitchFamily="34" charset="0"/>
                <a:ea typeface="Arial" pitchFamily="34" charset="-122"/>
                <a:cs typeface="Arial" pitchFamily="34" charset="-120"/>
              </a:rPr>
              <a:t>2026</a:t>
            </a:r>
            <a:endParaRPr lang="en-US" sz="1250" dirty="0"/>
          </a:p>
        </p:txBody>
      </p:sp>
      <p:sp>
        <p:nvSpPr>
          <p:cNvPr id="6" name="Text 3"/>
          <p:cNvSpPr/>
          <p:nvPr/>
        </p:nvSpPr>
        <p:spPr>
          <a:xfrm>
            <a:off x="228600" y="146304"/>
            <a:ext cx="1783080" cy="658368"/>
          </a:xfrm>
          <a:prstGeom prst="ellipse">
            <a:avLst/>
          </a:prstGeom>
          <a:noFill/>
          <a:ln w="19050">
            <a:solidFill>
              <a:srgbClr val="7F60A8"/>
            </a:solidFill>
          </a:ln>
        </p:spPr>
        <p:txBody>
          <a:bodyPr wrap="square" rtlCol="0" anchor="ctr"/>
          <a:lstStyle/>
          <a:p>
            <a:pPr algn="ctr" indent="0" marL="0">
              <a:buNone/>
            </a:pPr>
            <a:r>
              <a:rPr lang="en-US" sz="1300" dirty="0">
                <a:solidFill>
                  <a:srgbClr val="16202E"/>
                </a:solidFill>
                <a:latin typeface="Arial" pitchFamily="34" charset="0"/>
                <a:ea typeface="Arial" pitchFamily="34" charset="-122"/>
                <a:cs typeface="Arial" pitchFamily="34" charset="-120"/>
              </a:rPr>
              <a:t>[Team Name]</a:t>
            </a:r>
            <a:endParaRPr lang="en-US" sz="130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rfc-editor.org/rfc/rfc3207" TargetMode="External"/><Relationship Id="rId2" Type="http://schemas.openxmlformats.org/officeDocument/2006/relationships/hyperlink" Target="https://www.rfc-editor.org/rfc/rfc2595" TargetMode="External"/><Relationship Id="rId3" Type="http://schemas.openxmlformats.org/officeDocument/2006/relationships/hyperlink" Target="https://www.rfc-editor.org/rfc/rfc8314" TargetMode="External"/><Relationship Id="rId4" Type="http://schemas.openxmlformats.org/officeDocument/2006/relationships/hyperlink" Target="https://www.rfc-editor.org/rfc/rfc8996" TargetMode="External"/><Relationship Id="rId5" Type="http://schemas.openxmlformats.org/officeDocument/2006/relationships/hyperlink" Target="https://www.rfc-editor.org/rfc/rfc9325" TargetMode="External"/><Relationship Id="rId6" Type="http://schemas.openxmlformats.org/officeDocument/2006/relationships/hyperlink" Target="https://csrc.nist.gov/pubs/sp/800/52/r2/final" TargetMode="External"/><Relationship Id="rId7" Type="http://schemas.openxmlformats.org/officeDocument/2006/relationships/hyperlink" Target="https://csrc.nist.gov/pubs/sp/800/57/pt1/r5/final" TargetMode="External"/><Relationship Id="rId8" Type="http://schemas.openxmlformats.org/officeDocument/2006/relationships/hyperlink" Target="https://www.rfc-editor.org/rfc/rfc5280" TargetMode="External"/><Relationship Id="rId9" Type="http://schemas.openxmlformats.org/officeDocument/2006/relationships/hyperlink" Target="https://doi.org/10.1109/ICDM.2008.17" TargetMode="External"/><Relationship Id="rId10" Type="http://schemas.openxmlformats.org/officeDocument/2006/relationships/hyperlink" Target="https://docs.oasis-open.org/cti/stix/v2.1/stix-v2.1.html" TargetMode="External"/><Relationship Id="rId11" Type="http://schemas.openxmlformats.org/officeDocument/2006/relationships/hyperlink" Target="https://wiki.wireshark.org/SampleCaptures" TargetMode="External"/><Relationship Id="rId13" Type="http://schemas.openxmlformats.org/officeDocument/2006/relationships/hyperlink" Target="https://github.com/Kshitij1425/Secure-mail-protocol" TargetMode="External"/><Relationship Id="rId12" Type="http://schemas.openxmlformats.org/officeDocument/2006/relationships/image" Target="../media/image-7-1.png"/><Relationship Id="rId14" Type="http://schemas.openxmlformats.org/officeDocument/2006/relationships/slideLayout" Target="../slideLayouts/slideLayout2.xml"/><Relationship Id="rId1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5400000">
            <a:off x="6720840" y="1417320"/>
            <a:ext cx="4480560" cy="3977640"/>
          </a:xfrm>
          <a:prstGeom prst="hexagon">
            <a:avLst/>
          </a:prstGeom>
          <a:solidFill>
            <a:srgbClr val="ECECEC"/>
          </a:solidFill>
          <a:ln w="12700">
            <a:solidFill>
              <a:srgbClr val="ECECEC"/>
            </a:solidFill>
            <a:prstDash val="solid"/>
          </a:ln>
        </p:spPr>
      </p:sp>
      <p:sp>
        <p:nvSpPr>
          <p:cNvPr id="3" name="Shape 1"/>
          <p:cNvSpPr/>
          <p:nvPr/>
        </p:nvSpPr>
        <p:spPr>
          <a:xfrm rot="5400000">
            <a:off x="6492240" y="868680"/>
            <a:ext cx="1645920" cy="1417320"/>
          </a:xfrm>
          <a:prstGeom prst="hexagon">
            <a:avLst/>
          </a:prstGeom>
          <a:solidFill>
            <a:srgbClr val="FFFFFF"/>
          </a:solidFill>
          <a:ln w="25400">
            <a:solidFill>
              <a:srgbClr val="E2E2E2"/>
            </a:solidFill>
            <a:prstDash val="solid"/>
          </a:ln>
        </p:spPr>
      </p:sp>
      <p:sp>
        <p:nvSpPr>
          <p:cNvPr id="4" name="Shape 2"/>
          <p:cNvSpPr/>
          <p:nvPr/>
        </p:nvSpPr>
        <p:spPr>
          <a:xfrm rot="5400000">
            <a:off x="6035040" y="3931920"/>
            <a:ext cx="1143000" cy="1005840"/>
          </a:xfrm>
          <a:prstGeom prst="hexagon">
            <a:avLst/>
          </a:prstGeom>
          <a:solidFill>
            <a:srgbClr val="ECECEC"/>
          </a:solidFill>
          <a:ln w="12700">
            <a:solidFill>
              <a:srgbClr val="ECECEC"/>
            </a:solidFill>
            <a:prstDash val="solid"/>
          </a:ln>
        </p:spPr>
      </p:sp>
      <p:pic>
        <p:nvPicPr>
          <p:cNvPr id="5" name="Image 0" descr="C:\Users\kshit\AppData\Local\Temp\claude\C--Users-kshit\d25148f4-3556-4be3-88ed-11744b3548ab\scratchpad\ppt\assets\sih_bulb.png">    </p:cNvPr>
          <p:cNvPicPr>
            <a:picLocks noChangeAspect="1"/>
          </p:cNvPicPr>
          <p:nvPr/>
        </p:nvPicPr>
        <p:blipFill>
          <a:blip r:embed="rId1"/>
          <a:stretch>
            <a:fillRect/>
          </a:stretch>
        </p:blipFill>
        <p:spPr>
          <a:xfrm>
            <a:off x="7635240" y="1600200"/>
            <a:ext cx="2743200" cy="3163824"/>
          </a:xfrm>
          <a:prstGeom prst="rect">
            <a:avLst/>
          </a:prstGeom>
        </p:spPr>
      </p:pic>
      <p:sp>
        <p:nvSpPr>
          <p:cNvPr id="6" name="Text 3"/>
          <p:cNvSpPr txBox="1"/>
          <p:nvPr/>
        </p:nvSpPr>
        <p:spPr>
          <a:xfrm>
            <a:off x="411480" y="182880"/>
            <a:ext cx="9418320" cy="822960"/>
          </a:xfrm>
          <a:prstGeom prst="rect">
            <a:avLst/>
          </a:prstGeom>
          <a:noFill/>
          <a:ln/>
        </p:spPr>
        <p:txBody>
          <a:bodyPr wrap="square" lIns="0" tIns="0" rIns="0" bIns="0" rtlCol="0" anchor="ctr"/>
          <a:lstStyle/>
          <a:p>
            <a:pPr algn="ctr" indent="0" marL="0">
              <a:buNone/>
            </a:pPr>
            <a:r>
              <a:rPr lang="en-US" sz="4000" b="1" dirty="0">
                <a:solidFill>
                  <a:srgbClr val="1F4E8C"/>
                </a:solidFill>
                <a:latin typeface="Times New Roman" pitchFamily="34" charset="0"/>
                <a:ea typeface="Times New Roman" pitchFamily="34" charset="-122"/>
                <a:cs typeface="Times New Roman" pitchFamily="34" charset="-120"/>
              </a:rPr>
              <a:t>SMART INDIA HACKATHON 2026</a:t>
            </a:r>
            <a:endParaRPr lang="en-US" sz="4000" dirty="0"/>
          </a:p>
        </p:txBody>
      </p:sp>
      <p:pic>
        <p:nvPicPr>
          <p:cNvPr id="7" name="Image 1" descr="C:\Users\kshit\AppData\Local\Temp\claude\C--Users-kshit\d25148f4-3556-4be3-88ed-11744b3548ab\scratchpad\ppt\assets\sih_bulb_small.png">    </p:cNvPr>
          <p:cNvPicPr>
            <a:picLocks noChangeAspect="1"/>
          </p:cNvPicPr>
          <p:nvPr/>
        </p:nvPicPr>
        <p:blipFill>
          <a:blip r:embed="rId2"/>
          <a:stretch>
            <a:fillRect/>
          </a:stretch>
        </p:blipFill>
        <p:spPr>
          <a:xfrm>
            <a:off x="10076688" y="146304"/>
            <a:ext cx="603504" cy="694944"/>
          </a:xfrm>
          <a:prstGeom prst="rect">
            <a:avLst/>
          </a:prstGeom>
        </p:spPr>
      </p:pic>
      <p:sp>
        <p:nvSpPr>
          <p:cNvPr id="8" name="Text 4"/>
          <p:cNvSpPr txBox="1"/>
          <p:nvPr/>
        </p:nvSpPr>
        <p:spPr>
          <a:xfrm>
            <a:off x="10661904" y="128016"/>
            <a:ext cx="1417320" cy="731520"/>
          </a:xfrm>
          <a:prstGeom prst="rect">
            <a:avLst/>
          </a:prstGeom>
          <a:noFill/>
          <a:ln/>
        </p:spPr>
        <p:txBody>
          <a:bodyPr wrap="square" lIns="0" tIns="0" rIns="0" bIns="0" rtlCol="0" anchor="ctr"/>
          <a:lstStyle/>
          <a:p>
            <a:pPr algn="ctr" indent="0" marL="0">
              <a:lnSpc>
                <a:spcPct val="90000"/>
              </a:lnSpc>
              <a:buNone/>
            </a:pPr>
            <a:r>
              <a:rPr lang="en-US" sz="1250" b="1" dirty="0">
                <a:solidFill>
                  <a:srgbClr val="4B5A64"/>
                </a:solidFill>
                <a:latin typeface="Arial" pitchFamily="34" charset="0"/>
                <a:ea typeface="Arial" pitchFamily="34" charset="-122"/>
                <a:cs typeface="Arial" pitchFamily="34" charset="-120"/>
              </a:rPr>
              <a:t>SMART INDIA</a:t>
            </a:r>
            <a:endParaRPr lang="en-US" sz="1250" dirty="0"/>
          </a:p>
          <a:p>
            <a:pPr algn="ctr" indent="0" marL="0">
              <a:lnSpc>
                <a:spcPct val="90000"/>
              </a:lnSpc>
              <a:buNone/>
            </a:pPr>
            <a:r>
              <a:rPr lang="en-US" sz="1250" b="1" dirty="0">
                <a:solidFill>
                  <a:srgbClr val="4B5A64"/>
                </a:solidFill>
                <a:latin typeface="Arial" pitchFamily="34" charset="0"/>
                <a:ea typeface="Arial" pitchFamily="34" charset="-122"/>
                <a:cs typeface="Arial" pitchFamily="34" charset="-120"/>
              </a:rPr>
              <a:t>HACKATHON</a:t>
            </a:r>
            <a:endParaRPr lang="en-US" sz="1250" dirty="0"/>
          </a:p>
          <a:p>
            <a:pPr algn="ctr" indent="0" marL="0">
              <a:lnSpc>
                <a:spcPct val="90000"/>
              </a:lnSpc>
              <a:buNone/>
            </a:pPr>
            <a:r>
              <a:rPr lang="en-US" sz="1250" b="1" dirty="0">
                <a:solidFill>
                  <a:srgbClr val="4B5A64"/>
                </a:solidFill>
                <a:latin typeface="Arial" pitchFamily="34" charset="0"/>
                <a:ea typeface="Arial" pitchFamily="34" charset="-122"/>
                <a:cs typeface="Arial" pitchFamily="34" charset="-120"/>
              </a:rPr>
              <a:t>2026</a:t>
            </a:r>
            <a:endParaRPr lang="en-US" sz="1250" dirty="0"/>
          </a:p>
        </p:txBody>
      </p:sp>
      <p:sp>
        <p:nvSpPr>
          <p:cNvPr id="9" name="Text 5"/>
          <p:cNvSpPr txBox="1"/>
          <p:nvPr/>
        </p:nvSpPr>
        <p:spPr>
          <a:xfrm>
            <a:off x="2926080" y="1024128"/>
            <a:ext cx="4023360" cy="566928"/>
          </a:xfrm>
          <a:prstGeom prst="rect">
            <a:avLst/>
          </a:prstGeom>
          <a:noFill/>
          <a:ln/>
        </p:spPr>
        <p:txBody>
          <a:bodyPr wrap="square" lIns="0" tIns="0" rIns="0" bIns="0" rtlCol="0" anchor="ctr"/>
          <a:lstStyle/>
          <a:p>
            <a:pPr algn="ctr" indent="0" marL="0">
              <a:buNone/>
            </a:pPr>
            <a:r>
              <a:rPr lang="en-US" sz="3000" b="1" dirty="0">
                <a:solidFill>
                  <a:srgbClr val="16202E"/>
                </a:solidFill>
                <a:latin typeface="Times New Roman" pitchFamily="34" charset="0"/>
                <a:ea typeface="Times New Roman" pitchFamily="34" charset="-122"/>
                <a:cs typeface="Times New Roman" pitchFamily="34" charset="-120"/>
              </a:rPr>
              <a:t>TITLE PAGE</a:t>
            </a:r>
            <a:endParaRPr lang="en-US" sz="3000" dirty="0"/>
          </a:p>
        </p:txBody>
      </p:sp>
      <p:sp>
        <p:nvSpPr>
          <p:cNvPr id="10" name="Text 6"/>
          <p:cNvSpPr txBox="1"/>
          <p:nvPr/>
        </p:nvSpPr>
        <p:spPr>
          <a:xfrm>
            <a:off x="502920" y="1783080"/>
            <a:ext cx="6355080" cy="4480560"/>
          </a:xfrm>
          <a:prstGeom prst="rect">
            <a:avLst/>
          </a:prstGeom>
          <a:noFill/>
          <a:ln/>
        </p:spPr>
        <p:txBody>
          <a:bodyPr wrap="square" lIns="0" tIns="0" rIns="0" bIns="0" rtlCol="0" anchor="t"/>
          <a:lstStyle/>
          <a:p>
            <a:pPr marL="228600" indent="-228600">
              <a:lnSpc>
                <a:spcPct val="105000"/>
              </a:lnSpc>
              <a:spcAft>
                <a:spcPts val="900"/>
              </a:spcAft>
              <a:buSzPct val="100000"/>
              <a:buChar char="•"/>
            </a:pPr>
            <a:r>
              <a:rPr lang="en-US" sz="2100" b="1" dirty="0">
                <a:solidFill>
                  <a:srgbClr val="16202E"/>
                </a:solidFill>
                <a:latin typeface="Arial" pitchFamily="34" charset="0"/>
                <a:ea typeface="Arial" pitchFamily="34" charset="-122"/>
                <a:cs typeface="Arial" pitchFamily="34" charset="-120"/>
              </a:rPr>
              <a:t>Problem Statement ID – </a:t>
            </a:r>
            <a:pPr indent="0" marL="0">
              <a:lnSpc>
                <a:spcPct val="105000"/>
              </a:lnSpc>
              <a:buNone/>
            </a:pPr>
            <a:r>
              <a:rPr lang="en-US" sz="2100" b="1" dirty="0">
                <a:solidFill>
                  <a:srgbClr val="1F5AA6"/>
                </a:solidFill>
                <a:latin typeface="Arial" pitchFamily="34" charset="0"/>
                <a:ea typeface="Arial" pitchFamily="34" charset="-122"/>
                <a:cs typeface="Arial" pitchFamily="34" charset="-120"/>
              </a:rPr>
              <a:t>SIH26159</a:t>
            </a:r>
            <a:endParaRPr lang="en-US" sz="2100" dirty="0"/>
          </a:p>
          <a:p>
            <a:pPr marL="228600" indent="-228600">
              <a:lnSpc>
                <a:spcPct val="105000"/>
              </a:lnSpc>
              <a:spcAft>
                <a:spcPts val="900"/>
              </a:spcAft>
              <a:buSzPct val="100000"/>
              <a:buChar char="•"/>
            </a:pPr>
            <a:r>
              <a:rPr lang="en-US" sz="2100" b="1" dirty="0">
                <a:solidFill>
                  <a:srgbClr val="16202E"/>
                </a:solidFill>
                <a:latin typeface="Arial" pitchFamily="34" charset="0"/>
                <a:ea typeface="Arial" pitchFamily="34" charset="-122"/>
                <a:cs typeface="Arial" pitchFamily="34" charset="-120"/>
              </a:rPr>
              <a:t>Problem Statement Title – </a:t>
            </a:r>
            <a:pPr indent="0" marL="0">
              <a:lnSpc>
                <a:spcPct val="105000"/>
              </a:lnSpc>
              <a:buNone/>
            </a:pPr>
            <a:r>
              <a:rPr lang="en-US" sz="2100" b="1" dirty="0">
                <a:solidFill>
                  <a:srgbClr val="1F5AA6"/>
                </a:solidFill>
                <a:latin typeface="Arial" pitchFamily="34" charset="0"/>
                <a:ea typeface="Arial" pitchFamily="34" charset="-122"/>
                <a:cs typeface="Arial" pitchFamily="34" charset="-120"/>
              </a:rPr>
              <a:t>SecureMailScope: AI-Assisted Cryptographic Security Posture Assessment for Secure Email Communications</a:t>
            </a:r>
            <a:endParaRPr lang="en-US" sz="2100" dirty="0"/>
          </a:p>
          <a:p>
            <a:pPr marL="228600" indent="-228600">
              <a:lnSpc>
                <a:spcPct val="105000"/>
              </a:lnSpc>
              <a:spcAft>
                <a:spcPts val="900"/>
              </a:spcAft>
              <a:buSzPct val="100000"/>
              <a:buChar char="•"/>
            </a:pPr>
            <a:r>
              <a:rPr lang="en-US" sz="2100" b="1" dirty="0">
                <a:solidFill>
                  <a:srgbClr val="16202E"/>
                </a:solidFill>
                <a:latin typeface="Arial" pitchFamily="34" charset="0"/>
                <a:ea typeface="Arial" pitchFamily="34" charset="-122"/>
                <a:cs typeface="Arial" pitchFamily="34" charset="-120"/>
              </a:rPr>
              <a:t>Theme – </a:t>
            </a:r>
            <a:pPr indent="0" marL="0">
              <a:lnSpc>
                <a:spcPct val="105000"/>
              </a:lnSpc>
              <a:buNone/>
            </a:pPr>
            <a:r>
              <a:rPr lang="en-US" sz="2100" b="1" dirty="0">
                <a:solidFill>
                  <a:srgbClr val="1F5AA6"/>
                </a:solidFill>
                <a:latin typeface="Arial" pitchFamily="34" charset="0"/>
                <a:ea typeface="Arial" pitchFamily="34" charset="-122"/>
                <a:cs typeface="Arial" pitchFamily="34" charset="-120"/>
              </a:rPr>
              <a:t>Blockchain &amp; Cybersecurity</a:t>
            </a:r>
            <a:endParaRPr lang="en-US" sz="2100" dirty="0"/>
          </a:p>
          <a:p>
            <a:pPr marL="228600" indent="-228600">
              <a:lnSpc>
                <a:spcPct val="105000"/>
              </a:lnSpc>
              <a:spcAft>
                <a:spcPts val="900"/>
              </a:spcAft>
              <a:buSzPct val="100000"/>
              <a:buChar char="•"/>
            </a:pPr>
            <a:r>
              <a:rPr lang="en-US" sz="2100" b="1" dirty="0">
                <a:solidFill>
                  <a:srgbClr val="16202E"/>
                </a:solidFill>
                <a:latin typeface="Arial" pitchFamily="34" charset="0"/>
                <a:ea typeface="Arial" pitchFamily="34" charset="-122"/>
                <a:cs typeface="Arial" pitchFamily="34" charset="-120"/>
              </a:rPr>
              <a:t>PS Category – </a:t>
            </a:r>
            <a:pPr indent="0" marL="0">
              <a:lnSpc>
                <a:spcPct val="105000"/>
              </a:lnSpc>
              <a:buNone/>
            </a:pPr>
            <a:r>
              <a:rPr lang="en-US" sz="2100" b="1" dirty="0">
                <a:solidFill>
                  <a:srgbClr val="1F5AA6"/>
                </a:solidFill>
                <a:latin typeface="Arial" pitchFamily="34" charset="0"/>
                <a:ea typeface="Arial" pitchFamily="34" charset="-122"/>
                <a:cs typeface="Arial" pitchFamily="34" charset="-120"/>
              </a:rPr>
              <a:t>Software</a:t>
            </a:r>
            <a:endParaRPr lang="en-US" sz="2100" dirty="0"/>
          </a:p>
          <a:p>
            <a:pPr marL="228600" indent="-228600">
              <a:lnSpc>
                <a:spcPct val="105000"/>
              </a:lnSpc>
              <a:spcAft>
                <a:spcPts val="900"/>
              </a:spcAft>
              <a:buSzPct val="100000"/>
              <a:buChar char="•"/>
            </a:pPr>
            <a:r>
              <a:rPr lang="en-US" sz="2100" b="1" dirty="0">
                <a:solidFill>
                  <a:srgbClr val="16202E"/>
                </a:solidFill>
                <a:latin typeface="Arial" pitchFamily="34" charset="0"/>
                <a:ea typeface="Arial" pitchFamily="34" charset="-122"/>
                <a:cs typeface="Arial" pitchFamily="34" charset="-120"/>
              </a:rPr>
              <a:t>Team ID – </a:t>
            </a:r>
            <a:pPr indent="0" marL="0">
              <a:lnSpc>
                <a:spcPct val="105000"/>
              </a:lnSpc>
              <a:buNone/>
            </a:pPr>
            <a:r>
              <a:rPr lang="en-US" sz="2100" dirty="0">
                <a:solidFill>
                  <a:srgbClr val="B42318"/>
                </a:solidFill>
                <a:latin typeface="Arial" pitchFamily="34" charset="0"/>
                <a:ea typeface="Arial" pitchFamily="34" charset="-122"/>
                <a:cs typeface="Arial" pitchFamily="34" charset="-120"/>
              </a:rPr>
              <a:t>[Enter Team ID]</a:t>
            </a:r>
            <a:endParaRPr lang="en-US" sz="2100" dirty="0"/>
          </a:p>
          <a:p>
            <a:pPr marL="228600" indent="-228600">
              <a:lnSpc>
                <a:spcPct val="105000"/>
              </a:lnSpc>
              <a:spcAft>
                <a:spcPts val="900"/>
              </a:spcAft>
              <a:buSzPct val="100000"/>
              <a:buChar char="•"/>
            </a:pPr>
            <a:r>
              <a:rPr lang="en-US" sz="2100" b="1" dirty="0">
                <a:solidFill>
                  <a:srgbClr val="16202E"/>
                </a:solidFill>
                <a:latin typeface="Arial" pitchFamily="34" charset="0"/>
                <a:ea typeface="Arial" pitchFamily="34" charset="-122"/>
                <a:cs typeface="Arial" pitchFamily="34" charset="-120"/>
              </a:rPr>
              <a:t>Team Name – </a:t>
            </a:r>
            <a:pPr indent="0" marL="0">
              <a:lnSpc>
                <a:spcPct val="105000"/>
              </a:lnSpc>
              <a:buNone/>
            </a:pPr>
            <a:r>
              <a:rPr lang="en-US" sz="2100" dirty="0">
                <a:solidFill>
                  <a:srgbClr val="B42318"/>
                </a:solidFill>
                <a:latin typeface="Arial" pitchFamily="34" charset="0"/>
                <a:ea typeface="Arial" pitchFamily="34" charset="-122"/>
                <a:cs typeface="Arial" pitchFamily="34" charset="-120"/>
              </a:rPr>
              <a:t>[Enter Team Name]</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148840" y="91440"/>
            <a:ext cx="7818120" cy="868680"/>
          </a:xfrm>
          <a:prstGeom prst="rect">
            <a:avLst/>
          </a:prstGeom>
          <a:noFill/>
          <a:ln/>
        </p:spPr>
        <p:txBody>
          <a:bodyPr wrap="square" lIns="0" tIns="0" rIns="0" bIns="0" rtlCol="0" anchor="ctr"/>
          <a:lstStyle/>
          <a:p>
            <a:pPr algn="ctr" indent="0" marL="0">
              <a:buNone/>
            </a:pPr>
            <a:r>
              <a:rPr lang="en-US" sz="3200" b="1" dirty="0">
                <a:solidFill>
                  <a:srgbClr val="16202E"/>
                </a:solidFill>
                <a:latin typeface="Times New Roman" pitchFamily="34" charset="0"/>
                <a:ea typeface="Times New Roman" pitchFamily="34" charset="-122"/>
                <a:cs typeface="Times New Roman" pitchFamily="34" charset="-120"/>
              </a:rPr>
              <a:t>SecureMailScope</a:t>
            </a:r>
            <a:endParaRPr lang="en-US" sz="3200" dirty="0"/>
          </a:p>
          <a:p>
            <a:pPr algn="ctr" indent="0" marL="0">
              <a:buNone/>
            </a:pPr>
            <a:r>
              <a:rPr lang="en-US" sz="1300" i="1" dirty="0">
                <a:solidFill>
                  <a:srgbClr val="1F5AA6"/>
                </a:solidFill>
                <a:latin typeface="Arial" pitchFamily="34" charset="0"/>
                <a:ea typeface="Arial" pitchFamily="34" charset="-122"/>
                <a:cs typeface="Arial" pitchFamily="34" charset="-120"/>
              </a:rPr>
              <a:t>Passive email-security forensics workstation for SMTP · IMAP · POP3 captures</a:t>
            </a:r>
            <a:endParaRPr lang="en-US" sz="3200" dirty="0"/>
          </a:p>
        </p:txBody>
      </p:sp>
      <p:sp>
        <p:nvSpPr>
          <p:cNvPr id="3" name="Text 1"/>
          <p:cNvSpPr txBox="1"/>
          <p:nvPr/>
        </p:nvSpPr>
        <p:spPr>
          <a:xfrm>
            <a:off x="320040" y="1005840"/>
            <a:ext cx="6720840" cy="310896"/>
          </a:xfrm>
          <a:prstGeom prst="rect">
            <a:avLst/>
          </a:prstGeom>
          <a:noFill/>
          <a:ln/>
        </p:spPr>
        <p:txBody>
          <a:bodyPr wrap="square" lIns="0" tIns="0" rIns="0" bIns="0" rtlCol="0" anchor="ctr"/>
          <a:lstStyle/>
          <a:p>
            <a:pPr indent="0" marL="0">
              <a:buNone/>
            </a:pPr>
            <a:r>
              <a:rPr lang="en-US" sz="1400" b="1" dirty="0">
                <a:solidFill>
                  <a:srgbClr val="13233F"/>
                </a:solidFill>
                <a:latin typeface="Arial" pitchFamily="34" charset="0"/>
                <a:ea typeface="Arial" pitchFamily="34" charset="-122"/>
                <a:cs typeface="Arial" pitchFamily="34" charset="-120"/>
              </a:rPr>
              <a:t>The Problem</a:t>
            </a:r>
            <a:endParaRPr lang="en-US" sz="1400" dirty="0"/>
          </a:p>
        </p:txBody>
      </p:sp>
      <p:sp>
        <p:nvSpPr>
          <p:cNvPr id="4" name="Shape 2"/>
          <p:cNvSpPr/>
          <p:nvPr/>
        </p:nvSpPr>
        <p:spPr>
          <a:xfrm>
            <a:off x="320040" y="1316736"/>
            <a:ext cx="6720840" cy="1170432"/>
          </a:xfrm>
          <a:prstGeom prst="rect">
            <a:avLst/>
          </a:prstGeom>
          <a:solidFill>
            <a:srgbClr val="FFFFFF"/>
          </a:solidFill>
          <a:ln w="12700">
            <a:solidFill>
              <a:srgbClr val="C9D2DE"/>
            </a:solidFill>
            <a:prstDash val="solid"/>
          </a:ln>
        </p:spPr>
      </p:sp>
      <p:sp>
        <p:nvSpPr>
          <p:cNvPr id="5" name="Text 3"/>
          <p:cNvSpPr txBox="1"/>
          <p:nvPr/>
        </p:nvSpPr>
        <p:spPr>
          <a:xfrm>
            <a:off x="393192" y="1353312"/>
            <a:ext cx="6574536" cy="1097280"/>
          </a:xfrm>
          <a:prstGeom prst="rect">
            <a:avLst/>
          </a:prstGeom>
          <a:noFill/>
          <a:ln/>
        </p:spPr>
        <p:txBody>
          <a:bodyPr wrap="square" lIns="25400" tIns="25400" rIns="25400" bIns="25400" rtlCol="0" anchor="t"/>
          <a:lstStyle/>
          <a:p>
            <a:pPr marL="177800" indent="-177800">
              <a:spcAft>
                <a:spcPts val="200"/>
              </a:spcAft>
              <a:buSzPct val="100000"/>
              <a:buChar char="•"/>
            </a:pPr>
            <a:r>
              <a:rPr lang="en-US" sz="1150" dirty="0">
                <a:solidFill>
                  <a:srgbClr val="16202E"/>
                </a:solidFill>
                <a:latin typeface="Arial" pitchFamily="34" charset="0"/>
                <a:ea typeface="Arial" pitchFamily="34" charset="-122"/>
                <a:cs typeface="Arial" pitchFamily="34" charset="-120"/>
              </a:rPr>
              <a:t>Mail servers still negotiate </a:t>
            </a:r>
            <a:pPr indent="0" marL="0">
              <a:buNone/>
            </a:pPr>
            <a:r>
              <a:rPr lang="en-US" sz="1150" b="1" dirty="0">
                <a:solidFill>
                  <a:srgbClr val="B42318"/>
                </a:solidFill>
                <a:latin typeface="Arial" pitchFamily="34" charset="0"/>
                <a:ea typeface="Arial" pitchFamily="34" charset="-122"/>
                <a:cs typeface="Arial" pitchFamily="34" charset="-120"/>
              </a:rPr>
              <a:t>obsolete TLS 1.0/1.1</a:t>
            </a:r>
            <a:pPr indent="0" marL="0">
              <a:buNone/>
            </a:pPr>
            <a:r>
              <a:rPr lang="en-US" sz="1150" dirty="0">
                <a:solidFill>
                  <a:srgbClr val="16202E"/>
                </a:solidFill>
                <a:latin typeface="Arial" pitchFamily="34" charset="0"/>
                <a:ea typeface="Arial" pitchFamily="34" charset="-122"/>
                <a:cs typeface="Arial" pitchFamily="34" charset="-120"/>
              </a:rPr>
              <a:t>, </a:t>
            </a:r>
            <a:pPr indent="0" marL="0">
              <a:buNone/>
            </a:pPr>
            <a:r>
              <a:rPr lang="en-US" sz="1150" b="1" dirty="0">
                <a:solidFill>
                  <a:srgbClr val="B42318"/>
                </a:solidFill>
                <a:latin typeface="Arial" pitchFamily="34" charset="0"/>
                <a:ea typeface="Arial" pitchFamily="34" charset="-122"/>
                <a:cs typeface="Arial" pitchFamily="34" charset="-120"/>
              </a:rPr>
              <a:t>weak ciphers</a:t>
            </a:r>
            <a:pPr indent="0" marL="0">
              <a:buNone/>
            </a:pPr>
            <a:r>
              <a:rPr lang="en-US" sz="1150" dirty="0">
                <a:solidFill>
                  <a:srgbClr val="16202E"/>
                </a:solidFill>
                <a:latin typeface="Arial" pitchFamily="34" charset="0"/>
                <a:ea typeface="Arial" pitchFamily="34" charset="-122"/>
                <a:cs typeface="Arial" pitchFamily="34" charset="-120"/>
              </a:rPr>
              <a:t> and </a:t>
            </a:r>
            <a:pPr indent="0" marL="0">
              <a:buNone/>
            </a:pPr>
            <a:r>
              <a:rPr lang="en-US" sz="1150" b="1" dirty="0">
                <a:solidFill>
                  <a:srgbClr val="B42318"/>
                </a:solidFill>
                <a:latin typeface="Arial" pitchFamily="34" charset="0"/>
                <a:ea typeface="Arial" pitchFamily="34" charset="-122"/>
                <a:cs typeface="Arial" pitchFamily="34" charset="-120"/>
              </a:rPr>
              <a:t>expired or self-signed certificates</a:t>
            </a:r>
            <a:pPr indent="0" marL="0">
              <a:buNone/>
            </a:pPr>
            <a:r>
              <a:rPr lang="en-US" sz="1150" dirty="0">
                <a:solidFill>
                  <a:srgbClr val="16202E"/>
                </a:solidFill>
                <a:latin typeface="Arial" pitchFamily="34" charset="0"/>
                <a:ea typeface="Arial" pitchFamily="34" charset="-122"/>
                <a:cs typeface="Arial" pitchFamily="34" charset="-120"/>
              </a:rPr>
              <a:t>.</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STARTTLS</a:t>
            </a:r>
            <a:pPr indent="0" marL="0">
              <a:buNone/>
            </a:pPr>
            <a:r>
              <a:rPr lang="en-US" sz="1150" dirty="0">
                <a:solidFill>
                  <a:srgbClr val="16202E"/>
                </a:solidFill>
                <a:latin typeface="Arial" pitchFamily="34" charset="0"/>
                <a:ea typeface="Arial" pitchFamily="34" charset="-122"/>
                <a:cs typeface="Arial" pitchFamily="34" charset="-120"/>
              </a:rPr>
              <a:t> can be refused or stripped, so mail and passwords travel in </a:t>
            </a:r>
            <a:pPr indent="0" marL="0">
              <a:buNone/>
            </a:pPr>
            <a:r>
              <a:rPr lang="en-US" sz="1150" b="1" dirty="0">
                <a:solidFill>
                  <a:srgbClr val="B42318"/>
                </a:solidFill>
                <a:latin typeface="Arial" pitchFamily="34" charset="0"/>
                <a:ea typeface="Arial" pitchFamily="34" charset="-122"/>
                <a:cs typeface="Arial" pitchFamily="34" charset="-120"/>
              </a:rPr>
              <a:t>plaintext</a:t>
            </a:r>
            <a:pPr indent="0" marL="0">
              <a:buNone/>
            </a:pPr>
            <a:r>
              <a:rPr lang="en-US" sz="1150" dirty="0">
                <a:solidFill>
                  <a:srgbClr val="16202E"/>
                </a:solidFill>
                <a:latin typeface="Arial" pitchFamily="34" charset="0"/>
                <a:ea typeface="Arial" pitchFamily="34" charset="-122"/>
                <a:cs typeface="Arial" pitchFamily="34" charset="-120"/>
              </a:rPr>
              <a:t>.</a:t>
            </a:r>
            <a:endParaRPr lang="en-US" sz="1150" dirty="0"/>
          </a:p>
          <a:p>
            <a:pPr marL="177800" indent="-177800">
              <a:spcAft>
                <a:spcPts val="200"/>
              </a:spcAft>
              <a:buSzPct val="100000"/>
              <a:buChar char="•"/>
            </a:pPr>
            <a:r>
              <a:rPr lang="en-US" sz="1150" dirty="0">
                <a:solidFill>
                  <a:srgbClr val="16202E"/>
                </a:solidFill>
                <a:latin typeface="Arial" pitchFamily="34" charset="0"/>
                <a:ea typeface="Arial" pitchFamily="34" charset="-122"/>
                <a:cs typeface="Arial" pitchFamily="34" charset="-120"/>
              </a:rPr>
              <a:t>Packet tools </a:t>
            </a:r>
            <a:pPr indent="0" marL="0">
              <a:buNone/>
            </a:pPr>
            <a:r>
              <a:rPr lang="en-US" sz="1150" b="1" dirty="0">
                <a:solidFill>
                  <a:srgbClr val="1F5AA6"/>
                </a:solidFill>
                <a:latin typeface="Arial" pitchFamily="34" charset="0"/>
                <a:ea typeface="Arial" pitchFamily="34" charset="-122"/>
                <a:cs typeface="Arial" pitchFamily="34" charset="-120"/>
              </a:rPr>
              <a:t>decode</a:t>
            </a:r>
            <a:pPr indent="0" marL="0">
              <a:buNone/>
            </a:pPr>
            <a:r>
              <a:rPr lang="en-US" sz="1150" dirty="0">
                <a:solidFill>
                  <a:srgbClr val="16202E"/>
                </a:solidFill>
                <a:latin typeface="Arial" pitchFamily="34" charset="0"/>
                <a:ea typeface="Arial" pitchFamily="34" charset="-122"/>
                <a:cs typeface="Arial" pitchFamily="34" charset="-120"/>
              </a:rPr>
              <a:t> traffic but do not </a:t>
            </a:r>
            <a:pPr indent="0" marL="0">
              <a:buNone/>
            </a:pPr>
            <a:r>
              <a:rPr lang="en-US" sz="1150" b="1" dirty="0">
                <a:solidFill>
                  <a:srgbClr val="1F5AA6"/>
                </a:solidFill>
                <a:latin typeface="Arial" pitchFamily="34" charset="0"/>
                <a:ea typeface="Arial" pitchFamily="34" charset="-122"/>
                <a:cs typeface="Arial" pitchFamily="34" charset="-120"/>
              </a:rPr>
              <a:t>assess posture</a:t>
            </a:r>
            <a:pPr indent="0" marL="0">
              <a:buNone/>
            </a:pPr>
            <a:r>
              <a:rPr lang="en-US" sz="1150" dirty="0">
                <a:solidFill>
                  <a:srgbClr val="16202E"/>
                </a:solidFill>
                <a:latin typeface="Arial" pitchFamily="34" charset="0"/>
                <a:ea typeface="Arial" pitchFamily="34" charset="-122"/>
                <a:cs typeface="Arial" pitchFamily="34" charset="-120"/>
              </a:rPr>
              <a:t>; active scanners must </a:t>
            </a:r>
            <a:pPr indent="0" marL="0">
              <a:buNone/>
            </a:pPr>
            <a:r>
              <a:rPr lang="en-US" sz="1150" b="1" dirty="0">
                <a:solidFill>
                  <a:srgbClr val="1F5AA6"/>
                </a:solidFill>
                <a:latin typeface="Arial" pitchFamily="34" charset="0"/>
                <a:ea typeface="Arial" pitchFamily="34" charset="-122"/>
                <a:cs typeface="Arial" pitchFamily="34" charset="-120"/>
              </a:rPr>
              <a:t>contact live servers</a:t>
            </a:r>
            <a:pPr indent="0" marL="0">
              <a:buNone/>
            </a:pPr>
            <a:r>
              <a:rPr lang="en-US" sz="1150" dirty="0">
                <a:solidFill>
                  <a:srgbClr val="16202E"/>
                </a:solidFill>
                <a:latin typeface="Arial" pitchFamily="34" charset="0"/>
                <a:ea typeface="Arial" pitchFamily="34" charset="-122"/>
                <a:cs typeface="Arial" pitchFamily="34" charset="-120"/>
              </a:rPr>
              <a:t> and cannot analyse a capture.</a:t>
            </a:r>
            <a:endParaRPr lang="en-US" sz="1150" dirty="0"/>
          </a:p>
        </p:txBody>
      </p:sp>
      <p:sp>
        <p:nvSpPr>
          <p:cNvPr id="6" name="Text 4"/>
          <p:cNvSpPr txBox="1"/>
          <p:nvPr/>
        </p:nvSpPr>
        <p:spPr>
          <a:xfrm>
            <a:off x="320040" y="2578608"/>
            <a:ext cx="6720840" cy="310896"/>
          </a:xfrm>
          <a:prstGeom prst="rect">
            <a:avLst/>
          </a:prstGeom>
          <a:noFill/>
          <a:ln/>
        </p:spPr>
        <p:txBody>
          <a:bodyPr wrap="square" lIns="0" tIns="0" rIns="0" bIns="0" rtlCol="0" anchor="ctr"/>
          <a:lstStyle/>
          <a:p>
            <a:pPr indent="0" marL="0">
              <a:buNone/>
            </a:pPr>
            <a:r>
              <a:rPr lang="en-US" sz="1400" b="1" dirty="0">
                <a:solidFill>
                  <a:srgbClr val="13233F"/>
                </a:solidFill>
                <a:latin typeface="Arial" pitchFamily="34" charset="0"/>
                <a:ea typeface="Arial" pitchFamily="34" charset="-122"/>
                <a:cs typeface="Arial" pitchFamily="34" charset="-120"/>
              </a:rPr>
              <a:t>Proposed Solution</a:t>
            </a:r>
            <a:endParaRPr lang="en-US" sz="1400" dirty="0"/>
          </a:p>
        </p:txBody>
      </p:sp>
      <p:sp>
        <p:nvSpPr>
          <p:cNvPr id="7" name="Shape 5"/>
          <p:cNvSpPr/>
          <p:nvPr/>
        </p:nvSpPr>
        <p:spPr>
          <a:xfrm>
            <a:off x="320040" y="2889504"/>
            <a:ext cx="6720840" cy="1481328"/>
          </a:xfrm>
          <a:prstGeom prst="rect">
            <a:avLst/>
          </a:prstGeom>
          <a:solidFill>
            <a:srgbClr val="FFFFFF"/>
          </a:solidFill>
          <a:ln w="12700">
            <a:solidFill>
              <a:srgbClr val="C9D2DE"/>
            </a:solidFill>
            <a:prstDash val="solid"/>
          </a:ln>
        </p:spPr>
      </p:sp>
      <p:sp>
        <p:nvSpPr>
          <p:cNvPr id="8" name="Text 6"/>
          <p:cNvSpPr txBox="1"/>
          <p:nvPr/>
        </p:nvSpPr>
        <p:spPr>
          <a:xfrm>
            <a:off x="393192" y="2926080"/>
            <a:ext cx="6574536" cy="1408176"/>
          </a:xfrm>
          <a:prstGeom prst="rect">
            <a:avLst/>
          </a:prstGeom>
          <a:noFill/>
          <a:ln/>
        </p:spPr>
        <p:txBody>
          <a:bodyPr wrap="square" lIns="25400" tIns="25400" rIns="25400" bIns="25400" rtlCol="0" anchor="t"/>
          <a:lstStyle/>
          <a:p>
            <a:pPr marL="177800" indent="-177800">
              <a:spcAft>
                <a:spcPts val="200"/>
              </a:spcAft>
              <a:buSzPct val="100000"/>
              <a:buChar char="•"/>
            </a:pPr>
            <a:r>
              <a:rPr lang="en-US" sz="1150" b="1" dirty="0">
                <a:solidFill>
                  <a:srgbClr val="16202E"/>
                </a:solidFill>
                <a:latin typeface="Arial" pitchFamily="34" charset="0"/>
                <a:ea typeface="Arial" pitchFamily="34" charset="-122"/>
                <a:cs typeface="Arial" pitchFamily="34" charset="-120"/>
              </a:rPr>
              <a:t>Upload a PCAP: </a:t>
            </a:r>
            <a:pPr indent="0" marL="0">
              <a:buNone/>
            </a:pPr>
            <a:r>
              <a:rPr lang="en-US" sz="1150" dirty="0">
                <a:solidFill>
                  <a:srgbClr val="16202E"/>
                </a:solidFill>
                <a:latin typeface="Arial" pitchFamily="34" charset="0"/>
                <a:ea typeface="Arial" pitchFamily="34" charset="-122"/>
                <a:cs typeface="Arial" pitchFamily="34" charset="-120"/>
              </a:rPr>
              <a:t>TCP streams </a:t>
            </a:r>
            <a:pPr indent="0" marL="0">
              <a:buNone/>
            </a:pPr>
            <a:r>
              <a:rPr lang="en-US" sz="1150" b="1" dirty="0">
                <a:solidFill>
                  <a:srgbClr val="1F5AA6"/>
                </a:solidFill>
                <a:latin typeface="Arial" pitchFamily="34" charset="0"/>
                <a:ea typeface="Arial" pitchFamily="34" charset="-122"/>
                <a:cs typeface="Arial" pitchFamily="34" charset="-120"/>
              </a:rPr>
              <a:t>reassembled</a:t>
            </a:r>
            <a:pPr indent="0" marL="0">
              <a:buNone/>
            </a:pPr>
            <a:r>
              <a:rPr lang="en-US" sz="1150" dirty="0">
                <a:solidFill>
                  <a:srgbClr val="16202E"/>
                </a:solidFill>
                <a:latin typeface="Arial" pitchFamily="34" charset="0"/>
                <a:ea typeface="Arial" pitchFamily="34" charset="-122"/>
                <a:cs typeface="Arial" pitchFamily="34" charset="-120"/>
              </a:rPr>
              <a:t>, </a:t>
            </a:r>
            <a:pPr indent="0" marL="0">
              <a:buNone/>
            </a:pPr>
            <a:r>
              <a:rPr lang="en-US" sz="1150" b="1" dirty="0">
                <a:solidFill>
                  <a:srgbClr val="1F5AA6"/>
                </a:solidFill>
                <a:latin typeface="Arial" pitchFamily="34" charset="0"/>
                <a:ea typeface="Arial" pitchFamily="34" charset="-122"/>
                <a:cs typeface="Arial" pitchFamily="34" charset="-120"/>
              </a:rPr>
              <a:t>SMTP/IMAP/POP3</a:t>
            </a:r>
            <a:pPr indent="0" marL="0">
              <a:buNone/>
            </a:pPr>
            <a:r>
              <a:rPr lang="en-US" sz="1150" dirty="0">
                <a:solidFill>
                  <a:srgbClr val="16202E"/>
                </a:solidFill>
                <a:latin typeface="Arial" pitchFamily="34" charset="0"/>
                <a:ea typeface="Arial" pitchFamily="34" charset="-122"/>
                <a:cs typeface="Arial" pitchFamily="34" charset="-120"/>
              </a:rPr>
              <a:t> identified, </a:t>
            </a:r>
            <a:pPr indent="0" marL="0">
              <a:buNone/>
            </a:pPr>
            <a:r>
              <a:rPr lang="en-US" sz="1150" b="1" dirty="0">
                <a:solidFill>
                  <a:srgbClr val="1F5AA6"/>
                </a:solidFill>
                <a:latin typeface="Arial" pitchFamily="34" charset="0"/>
                <a:ea typeface="Arial" pitchFamily="34" charset="-122"/>
                <a:cs typeface="Arial" pitchFamily="34" charset="-120"/>
              </a:rPr>
              <a:t>STARTTLS/TLS</a:t>
            </a:r>
            <a:pPr indent="0" marL="0">
              <a:buNone/>
            </a:pPr>
            <a:r>
              <a:rPr lang="en-US" sz="1150" dirty="0">
                <a:solidFill>
                  <a:srgbClr val="16202E"/>
                </a:solidFill>
                <a:latin typeface="Arial" pitchFamily="34" charset="0"/>
                <a:ea typeface="Arial" pitchFamily="34" charset="-122"/>
                <a:cs typeface="Arial" pitchFamily="34" charset="-120"/>
              </a:rPr>
              <a:t> and </a:t>
            </a:r>
            <a:pPr indent="0" marL="0">
              <a:buNone/>
            </a:pPr>
            <a:r>
              <a:rPr lang="en-US" sz="1150" b="1" dirty="0">
                <a:solidFill>
                  <a:srgbClr val="1F5AA6"/>
                </a:solidFill>
                <a:latin typeface="Arial" pitchFamily="34" charset="0"/>
                <a:ea typeface="Arial" pitchFamily="34" charset="-122"/>
                <a:cs typeface="Arial" pitchFamily="34" charset="-120"/>
              </a:rPr>
              <a:t>X.509</a:t>
            </a:r>
            <a:pPr indent="0" marL="0">
              <a:buNone/>
            </a:pPr>
            <a:r>
              <a:rPr lang="en-US" sz="1150" dirty="0">
                <a:solidFill>
                  <a:srgbClr val="16202E"/>
                </a:solidFill>
                <a:latin typeface="Arial" pitchFamily="34" charset="0"/>
                <a:ea typeface="Arial" pitchFamily="34" charset="-122"/>
                <a:cs typeface="Arial" pitchFamily="34" charset="-120"/>
              </a:rPr>
              <a:t> analysed.</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19 deterministic rules</a:t>
            </a:r>
            <a:pPr indent="0" marL="0">
              <a:buNone/>
            </a:pPr>
            <a:r>
              <a:rPr lang="en-US" sz="1150" dirty="0">
                <a:solidFill>
                  <a:srgbClr val="16202E"/>
                </a:solidFill>
                <a:latin typeface="Arial" pitchFamily="34" charset="0"/>
                <a:ea typeface="Arial" pitchFamily="34" charset="-122"/>
                <a:cs typeface="Arial" pitchFamily="34" charset="-120"/>
              </a:rPr>
              <a:t> grade each session with an evidence class and the </a:t>
            </a:r>
            <a:pPr indent="0" marL="0">
              <a:buNone/>
            </a:pPr>
            <a:r>
              <a:rPr lang="en-US" sz="1150" b="1" dirty="0">
                <a:solidFill>
                  <a:srgbClr val="1F5AA6"/>
                </a:solidFill>
                <a:latin typeface="Arial" pitchFamily="34" charset="0"/>
                <a:ea typeface="Arial" pitchFamily="34" charset="-122"/>
                <a:cs typeface="Arial" pitchFamily="34" charset="-120"/>
              </a:rPr>
              <a:t>exact capture frame</a:t>
            </a:r>
            <a:pPr indent="0" marL="0">
              <a:buNone/>
            </a:pPr>
            <a:r>
              <a:rPr lang="en-US" sz="1150" dirty="0">
                <a:solidFill>
                  <a:srgbClr val="16202E"/>
                </a:solidFill>
                <a:latin typeface="Arial" pitchFamily="34" charset="0"/>
                <a:ea typeface="Arial" pitchFamily="34" charset="-122"/>
                <a:cs typeface="Arial" pitchFamily="34" charset="-120"/>
              </a:rPr>
              <a:t>.</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Posture score 0-100</a:t>
            </a:r>
            <a:pPr indent="0" marL="0">
              <a:buNone/>
            </a:pPr>
            <a:r>
              <a:rPr lang="en-US" sz="1150" dirty="0">
                <a:solidFill>
                  <a:srgbClr val="16202E"/>
                </a:solidFill>
                <a:latin typeface="Arial" pitchFamily="34" charset="0"/>
                <a:ea typeface="Arial" pitchFamily="34" charset="-122"/>
                <a:cs typeface="Arial" pitchFamily="34" charset="-120"/>
              </a:rPr>
              <a:t> with prioritised remediation; </a:t>
            </a:r>
            <a:pPr indent="0" marL="0">
              <a:buNone/>
            </a:pPr>
            <a:r>
              <a:rPr lang="en-US" sz="1150" b="1" dirty="0">
                <a:solidFill>
                  <a:srgbClr val="1F5AA6"/>
                </a:solidFill>
                <a:latin typeface="Arial" pitchFamily="34" charset="0"/>
                <a:ea typeface="Arial" pitchFamily="34" charset="-122"/>
                <a:cs typeface="Arial" pitchFamily="34" charset="-120"/>
              </a:rPr>
              <a:t>Isolation Forest</a:t>
            </a:r>
            <a:pPr indent="0" marL="0">
              <a:buNone/>
            </a:pPr>
            <a:r>
              <a:rPr lang="en-US" sz="1150" dirty="0">
                <a:solidFill>
                  <a:srgbClr val="16202E"/>
                </a:solidFill>
                <a:latin typeface="Arial" pitchFamily="34" charset="0"/>
                <a:ea typeface="Arial" pitchFamily="34" charset="-122"/>
                <a:cs typeface="Arial" pitchFamily="34" charset="-120"/>
              </a:rPr>
              <a:t> ranks sessions weaker than the capture norm.</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14-section forensic report</a:t>
            </a:r>
            <a:pPr indent="0" marL="0">
              <a:buNone/>
            </a:pPr>
            <a:r>
              <a:rPr lang="en-US" sz="1150" dirty="0">
                <a:solidFill>
                  <a:srgbClr val="16202E"/>
                </a:solidFill>
                <a:latin typeface="Arial" pitchFamily="34" charset="0"/>
                <a:ea typeface="Arial" pitchFamily="34" charset="-122"/>
                <a:cs typeface="Arial" pitchFamily="34" charset="-120"/>
              </a:rPr>
              <a:t> (JSON/HTML/PDF), redacted mode, evidence bundle and </a:t>
            </a:r>
            <a:pPr indent="0" marL="0">
              <a:buNone/>
            </a:pPr>
            <a:r>
              <a:rPr lang="en-US" sz="1150" b="1" dirty="0">
                <a:solidFill>
                  <a:srgbClr val="1F5AA6"/>
                </a:solidFill>
                <a:latin typeface="Arial" pitchFamily="34" charset="0"/>
                <a:ea typeface="Arial" pitchFamily="34" charset="-122"/>
                <a:cs typeface="Arial" pitchFamily="34" charset="-120"/>
              </a:rPr>
              <a:t>STIX 2.1</a:t>
            </a:r>
            <a:pPr indent="0" marL="0">
              <a:buNone/>
            </a:pPr>
            <a:r>
              <a:rPr lang="en-US" sz="1150" dirty="0">
                <a:solidFill>
                  <a:srgbClr val="16202E"/>
                </a:solidFill>
                <a:latin typeface="Arial" pitchFamily="34" charset="0"/>
                <a:ea typeface="Arial" pitchFamily="34" charset="-122"/>
                <a:cs typeface="Arial" pitchFamily="34" charset="-120"/>
              </a:rPr>
              <a:t>.</a:t>
            </a:r>
            <a:endParaRPr lang="en-US" sz="1150" dirty="0"/>
          </a:p>
        </p:txBody>
      </p:sp>
      <p:sp>
        <p:nvSpPr>
          <p:cNvPr id="9" name="Text 7"/>
          <p:cNvSpPr txBox="1"/>
          <p:nvPr/>
        </p:nvSpPr>
        <p:spPr>
          <a:xfrm>
            <a:off x="320040" y="4462272"/>
            <a:ext cx="6720840" cy="310896"/>
          </a:xfrm>
          <a:prstGeom prst="rect">
            <a:avLst/>
          </a:prstGeom>
          <a:noFill/>
          <a:ln/>
        </p:spPr>
        <p:txBody>
          <a:bodyPr wrap="square" lIns="0" tIns="0" rIns="0" bIns="0" rtlCol="0" anchor="ctr"/>
          <a:lstStyle/>
          <a:p>
            <a:pPr indent="0" marL="0">
              <a:buNone/>
            </a:pPr>
            <a:r>
              <a:rPr lang="en-US" sz="1400" b="1" dirty="0">
                <a:solidFill>
                  <a:srgbClr val="13233F"/>
                </a:solidFill>
                <a:latin typeface="Arial" pitchFamily="34" charset="0"/>
                <a:ea typeface="Arial" pitchFamily="34" charset="-122"/>
                <a:cs typeface="Arial" pitchFamily="34" charset="-120"/>
              </a:rPr>
              <a:t>Uniqueness &amp; Innovation</a:t>
            </a:r>
            <a:endParaRPr lang="en-US" sz="1400" dirty="0"/>
          </a:p>
        </p:txBody>
      </p:sp>
      <p:sp>
        <p:nvSpPr>
          <p:cNvPr id="10" name="Shape 8"/>
          <p:cNvSpPr/>
          <p:nvPr/>
        </p:nvSpPr>
        <p:spPr>
          <a:xfrm>
            <a:off x="320040" y="4773168"/>
            <a:ext cx="6720840" cy="1280160"/>
          </a:xfrm>
          <a:prstGeom prst="rect">
            <a:avLst/>
          </a:prstGeom>
          <a:solidFill>
            <a:srgbClr val="FFFFFF"/>
          </a:solidFill>
          <a:ln w="12700">
            <a:solidFill>
              <a:srgbClr val="C9D2DE"/>
            </a:solidFill>
            <a:prstDash val="solid"/>
          </a:ln>
        </p:spPr>
      </p:sp>
      <p:sp>
        <p:nvSpPr>
          <p:cNvPr id="11" name="Text 9"/>
          <p:cNvSpPr txBox="1"/>
          <p:nvPr/>
        </p:nvSpPr>
        <p:spPr>
          <a:xfrm>
            <a:off x="393192" y="4809744"/>
            <a:ext cx="6574536" cy="1207008"/>
          </a:xfrm>
          <a:prstGeom prst="rect">
            <a:avLst/>
          </a:prstGeom>
          <a:noFill/>
          <a:ln/>
        </p:spPr>
        <p:txBody>
          <a:bodyPr wrap="square" lIns="25400" tIns="25400" rIns="25400" bIns="25400" rtlCol="0" anchor="t"/>
          <a:lstStyle/>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100% passive:</a:t>
            </a:r>
            <a:pPr indent="0" marL="0">
              <a:buNone/>
            </a:pPr>
            <a:r>
              <a:rPr lang="en-US" sz="1150" dirty="0">
                <a:solidFill>
                  <a:srgbClr val="16202E"/>
                </a:solidFill>
                <a:latin typeface="Arial" pitchFamily="34" charset="0"/>
                <a:ea typeface="Arial" pitchFamily="34" charset="-122"/>
                <a:cs typeface="Arial" pitchFamily="34" charset="-120"/>
              </a:rPr>
              <a:t> never contacts a mail server and never decrypts traffic.</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Evidence chain:</a:t>
            </a:r>
            <a:pPr indent="0" marL="0">
              <a:buNone/>
            </a:pPr>
            <a:r>
              <a:rPr lang="en-US" sz="1150" dirty="0">
                <a:solidFill>
                  <a:srgbClr val="16202E"/>
                </a:solidFill>
                <a:latin typeface="Arial" pitchFamily="34" charset="0"/>
                <a:ea typeface="Arial" pitchFamily="34" charset="-122"/>
                <a:cs typeface="Arial" pitchFamily="34" charset="-120"/>
              </a:rPr>
              <a:t> every finding traced to session, TLS, certificate and packet frame.</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Explainable &amp; honest:</a:t>
            </a:r>
            <a:pPr indent="0" marL="0">
              <a:buNone/>
            </a:pPr>
            <a:r>
              <a:rPr lang="en-US" sz="1150" dirty="0">
                <a:solidFill>
                  <a:srgbClr val="16202E"/>
                </a:solidFill>
                <a:latin typeface="Arial" pitchFamily="34" charset="0"/>
                <a:ea typeface="Arial" pitchFamily="34" charset="-122"/>
                <a:cs typeface="Arial" pitchFamily="34" charset="-120"/>
              </a:rPr>
              <a:t> 'Why am I seeing this?'; TLS 1.3 certificates marked </a:t>
            </a:r>
            <a:pPr indent="0" marL="0">
              <a:buNone/>
            </a:pPr>
            <a:r>
              <a:rPr lang="en-US" sz="1150" b="1" dirty="0">
                <a:solidFill>
                  <a:srgbClr val="1F5AA6"/>
                </a:solidFill>
                <a:latin typeface="Arial" pitchFamily="34" charset="0"/>
                <a:ea typeface="Arial" pitchFamily="34" charset="-122"/>
                <a:cs typeface="Arial" pitchFamily="34" charset="-120"/>
              </a:rPr>
              <a:t>NOT OBSERVABLE</a:t>
            </a:r>
            <a:pPr indent="0" marL="0">
              <a:buNone/>
            </a:pPr>
            <a:r>
              <a:rPr lang="en-US" sz="1150" dirty="0">
                <a:solidFill>
                  <a:srgbClr val="16202E"/>
                </a:solidFill>
                <a:latin typeface="Arial" pitchFamily="34" charset="0"/>
                <a:ea typeface="Arial" pitchFamily="34" charset="-122"/>
                <a:cs typeface="Arial" pitchFamily="34" charset="-120"/>
              </a:rPr>
              <a:t>.</a:t>
            </a:r>
            <a:endParaRPr lang="en-US" sz="1150" dirty="0"/>
          </a:p>
          <a:p>
            <a:pPr marL="177800" indent="-177800">
              <a:spcAft>
                <a:spcPts val="200"/>
              </a:spcAft>
              <a:buSzPct val="100000"/>
              <a:buChar char="•"/>
            </a:pPr>
            <a:r>
              <a:rPr lang="en-US" sz="1150" b="1" dirty="0">
                <a:solidFill>
                  <a:srgbClr val="1F5AA6"/>
                </a:solidFill>
                <a:latin typeface="Arial" pitchFamily="34" charset="0"/>
                <a:ea typeface="Arial" pitchFamily="34" charset="-122"/>
                <a:cs typeface="Arial" pitchFamily="34" charset="-120"/>
              </a:rPr>
              <a:t>Analyst workflow:</a:t>
            </a:r>
            <a:pPr indent="0" marL="0">
              <a:buNone/>
            </a:pPr>
            <a:r>
              <a:rPr lang="en-US" sz="1150" dirty="0">
                <a:solidFill>
                  <a:srgbClr val="16202E"/>
                </a:solidFill>
                <a:latin typeface="Arial" pitchFamily="34" charset="0"/>
                <a:ea typeface="Arial" pitchFamily="34" charset="-122"/>
                <a:cs typeface="Arial" pitchFamily="34" charset="-120"/>
              </a:rPr>
              <a:t> 8 steps, policy profiles, before/after compare, notes, trend.</a:t>
            </a:r>
            <a:endParaRPr lang="en-US" sz="1150" dirty="0"/>
          </a:p>
        </p:txBody>
      </p:sp>
      <p:sp>
        <p:nvSpPr>
          <p:cNvPr id="12" name="Shape 10"/>
          <p:cNvSpPr/>
          <p:nvPr/>
        </p:nvSpPr>
        <p:spPr>
          <a:xfrm>
            <a:off x="7242048" y="1115568"/>
            <a:ext cx="4672584" cy="2812669"/>
          </a:xfrm>
          <a:prstGeom prst="rect">
            <a:avLst/>
          </a:prstGeom>
          <a:solidFill>
            <a:srgbClr val="FFFFFF"/>
          </a:solidFill>
          <a:ln w="12700">
            <a:solidFill>
              <a:srgbClr val="C9D2DE"/>
            </a:solidFill>
            <a:prstDash val="solid"/>
          </a:ln>
          <a:effectLst>
            <a:outerShdw sx="100000" sy="100000" kx="0" ky="0" algn="bl" rotWithShape="0" blurRad="76200" dist="25400" dir="5400000">
              <a:srgbClr val="000000">
                <a:alpha val="18000"/>
              </a:srgbClr>
            </a:outerShdw>
          </a:effectLst>
        </p:spPr>
      </p:sp>
      <p:pic>
        <p:nvPicPr>
          <p:cNvPr id="13" name="Image 0" descr="C:\Users\kshit\AppData\Local\Temp\claude\C--Users-kshit\d25148f4-3556-4be3-88ed-11744b3548ab\scratchpad\ppt\assets\shots\findings.png">    </p:cNvPr>
          <p:cNvPicPr>
            <a:picLocks noChangeAspect="1"/>
          </p:cNvPicPr>
          <p:nvPr/>
        </p:nvPicPr>
        <p:blipFill>
          <a:blip r:embed="rId1"/>
          <a:stretch>
            <a:fillRect/>
          </a:stretch>
        </p:blipFill>
        <p:spPr>
          <a:xfrm>
            <a:off x="7269480" y="1143000"/>
            <a:ext cx="4617720" cy="2757805"/>
          </a:xfrm>
          <a:prstGeom prst="rect">
            <a:avLst/>
          </a:prstGeom>
        </p:spPr>
      </p:pic>
      <p:sp>
        <p:nvSpPr>
          <p:cNvPr id="14" name="Text 11"/>
          <p:cNvSpPr txBox="1"/>
          <p:nvPr/>
        </p:nvSpPr>
        <p:spPr>
          <a:xfrm>
            <a:off x="7269480" y="3964813"/>
            <a:ext cx="4617720" cy="274320"/>
          </a:xfrm>
          <a:prstGeom prst="rect">
            <a:avLst/>
          </a:prstGeom>
          <a:noFill/>
          <a:ln/>
        </p:spPr>
        <p:txBody>
          <a:bodyPr wrap="square" lIns="0" tIns="0" rIns="0" bIns="0" rtlCol="0" anchor="ctr"/>
          <a:lstStyle/>
          <a:p>
            <a:pPr algn="ctr" indent="0" marL="0">
              <a:buNone/>
            </a:pPr>
            <a:r>
              <a:rPr lang="en-US" sz="1050" i="1" dirty="0">
                <a:solidFill>
                  <a:srgbClr val="68768A"/>
                </a:solidFill>
                <a:latin typeface="Arial" pitchFamily="34" charset="0"/>
                <a:ea typeface="Arial" pitchFamily="34" charset="-122"/>
                <a:cs typeface="Arial" pitchFamily="34" charset="-120"/>
              </a:rPr>
              <a:t>Working prototype: finding with its evidence and remediation</a:t>
            </a:r>
            <a:endParaRPr lang="en-US" sz="1050" dirty="0"/>
          </a:p>
        </p:txBody>
      </p:sp>
      <p:sp>
        <p:nvSpPr>
          <p:cNvPr id="15" name="Shape 12"/>
          <p:cNvSpPr/>
          <p:nvPr/>
        </p:nvSpPr>
        <p:spPr>
          <a:xfrm>
            <a:off x="7269480" y="4617720"/>
            <a:ext cx="749808" cy="457200"/>
          </a:xfrm>
          <a:prstGeom prst="chevron">
            <a:avLst/>
          </a:prstGeom>
          <a:solidFill>
            <a:srgbClr val="13233F"/>
          </a:solidFill>
          <a:ln w="12700">
            <a:solidFill>
              <a:srgbClr val="FFFFFF"/>
            </a:solidFill>
            <a:prstDash val="solid"/>
          </a:ln>
        </p:spPr>
      </p:sp>
      <p:sp>
        <p:nvSpPr>
          <p:cNvPr id="16" name="Shape 13"/>
          <p:cNvSpPr/>
          <p:nvPr/>
        </p:nvSpPr>
        <p:spPr>
          <a:xfrm>
            <a:off x="8046720" y="4617720"/>
            <a:ext cx="749808" cy="457200"/>
          </a:xfrm>
          <a:prstGeom prst="chevron">
            <a:avLst/>
          </a:prstGeom>
          <a:solidFill>
            <a:srgbClr val="13233F"/>
          </a:solidFill>
          <a:ln w="12700">
            <a:solidFill>
              <a:srgbClr val="FFFFFF"/>
            </a:solidFill>
            <a:prstDash val="solid"/>
          </a:ln>
        </p:spPr>
      </p:sp>
      <p:sp>
        <p:nvSpPr>
          <p:cNvPr id="17" name="Shape 14"/>
          <p:cNvSpPr/>
          <p:nvPr/>
        </p:nvSpPr>
        <p:spPr>
          <a:xfrm>
            <a:off x="8823960" y="4617720"/>
            <a:ext cx="749808" cy="457200"/>
          </a:xfrm>
          <a:prstGeom prst="chevron">
            <a:avLst/>
          </a:prstGeom>
          <a:solidFill>
            <a:srgbClr val="13233F"/>
          </a:solidFill>
          <a:ln w="12700">
            <a:solidFill>
              <a:srgbClr val="FFFFFF"/>
            </a:solidFill>
            <a:prstDash val="solid"/>
          </a:ln>
        </p:spPr>
      </p:sp>
      <p:sp>
        <p:nvSpPr>
          <p:cNvPr id="18" name="Shape 15"/>
          <p:cNvSpPr/>
          <p:nvPr/>
        </p:nvSpPr>
        <p:spPr>
          <a:xfrm>
            <a:off x="9601200" y="4617720"/>
            <a:ext cx="749808" cy="457200"/>
          </a:xfrm>
          <a:prstGeom prst="chevron">
            <a:avLst/>
          </a:prstGeom>
          <a:solidFill>
            <a:srgbClr val="13233F"/>
          </a:solidFill>
          <a:ln w="12700">
            <a:solidFill>
              <a:srgbClr val="FFFFFF"/>
            </a:solidFill>
            <a:prstDash val="solid"/>
          </a:ln>
        </p:spPr>
      </p:sp>
      <p:sp>
        <p:nvSpPr>
          <p:cNvPr id="19" name="Shape 16"/>
          <p:cNvSpPr/>
          <p:nvPr/>
        </p:nvSpPr>
        <p:spPr>
          <a:xfrm>
            <a:off x="10378440" y="4617720"/>
            <a:ext cx="749808" cy="457200"/>
          </a:xfrm>
          <a:prstGeom prst="chevron">
            <a:avLst/>
          </a:prstGeom>
          <a:solidFill>
            <a:srgbClr val="13233F"/>
          </a:solidFill>
          <a:ln w="12700">
            <a:solidFill>
              <a:srgbClr val="FFFFFF"/>
            </a:solidFill>
            <a:prstDash val="solid"/>
          </a:ln>
        </p:spPr>
      </p:sp>
      <p:sp>
        <p:nvSpPr>
          <p:cNvPr id="20" name="Shape 17"/>
          <p:cNvSpPr/>
          <p:nvPr/>
        </p:nvSpPr>
        <p:spPr>
          <a:xfrm>
            <a:off x="11155680" y="4617720"/>
            <a:ext cx="749808" cy="457200"/>
          </a:xfrm>
          <a:prstGeom prst="chevron">
            <a:avLst/>
          </a:prstGeom>
          <a:solidFill>
            <a:srgbClr val="1F5AA6"/>
          </a:solidFill>
          <a:ln w="12700">
            <a:solidFill>
              <a:srgbClr val="FFFFFF"/>
            </a:solidFill>
            <a:prstDash val="solid"/>
          </a:ln>
        </p:spPr>
      </p:sp>
      <p:sp>
        <p:nvSpPr>
          <p:cNvPr id="21" name="Text 18"/>
          <p:cNvSpPr txBox="1"/>
          <p:nvPr/>
        </p:nvSpPr>
        <p:spPr>
          <a:xfrm>
            <a:off x="7424928" y="4617720"/>
            <a:ext cx="576072"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PCAP</a:t>
            </a:r>
            <a:endParaRPr lang="en-US" sz="750" dirty="0"/>
          </a:p>
        </p:txBody>
      </p:sp>
      <p:sp>
        <p:nvSpPr>
          <p:cNvPr id="22" name="Text 19"/>
          <p:cNvSpPr txBox="1"/>
          <p:nvPr/>
        </p:nvSpPr>
        <p:spPr>
          <a:xfrm>
            <a:off x="8202168" y="4617720"/>
            <a:ext cx="576072"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Sessions</a:t>
            </a:r>
            <a:endParaRPr lang="en-US" sz="750" dirty="0"/>
          </a:p>
        </p:txBody>
      </p:sp>
      <p:sp>
        <p:nvSpPr>
          <p:cNvPr id="23" name="Text 20"/>
          <p:cNvSpPr txBox="1"/>
          <p:nvPr/>
        </p:nvSpPr>
        <p:spPr>
          <a:xfrm>
            <a:off x="8979408" y="4617720"/>
            <a:ext cx="576072"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TLS +</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X.509</a:t>
            </a:r>
            <a:endParaRPr lang="en-US" sz="750" dirty="0"/>
          </a:p>
        </p:txBody>
      </p:sp>
      <p:sp>
        <p:nvSpPr>
          <p:cNvPr id="24" name="Text 21"/>
          <p:cNvSpPr txBox="1"/>
          <p:nvPr/>
        </p:nvSpPr>
        <p:spPr>
          <a:xfrm>
            <a:off x="9756648" y="4617720"/>
            <a:ext cx="576072"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Rules</a:t>
            </a:r>
            <a:endParaRPr lang="en-US" sz="750" dirty="0"/>
          </a:p>
        </p:txBody>
      </p:sp>
      <p:sp>
        <p:nvSpPr>
          <p:cNvPr id="25" name="Text 22"/>
          <p:cNvSpPr txBox="1"/>
          <p:nvPr/>
        </p:nvSpPr>
        <p:spPr>
          <a:xfrm>
            <a:off x="10533888" y="4617720"/>
            <a:ext cx="576072"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Score</a:t>
            </a:r>
            <a:endParaRPr lang="en-US" sz="750" dirty="0"/>
          </a:p>
        </p:txBody>
      </p:sp>
      <p:sp>
        <p:nvSpPr>
          <p:cNvPr id="26" name="Text 23"/>
          <p:cNvSpPr txBox="1"/>
          <p:nvPr/>
        </p:nvSpPr>
        <p:spPr>
          <a:xfrm>
            <a:off x="11311128" y="4617720"/>
            <a:ext cx="576072"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Report</a:t>
            </a:r>
            <a:endParaRPr lang="en-US" sz="750" dirty="0"/>
          </a:p>
        </p:txBody>
      </p:sp>
      <p:sp>
        <p:nvSpPr>
          <p:cNvPr id="27" name="Shape 24"/>
          <p:cNvSpPr/>
          <p:nvPr/>
        </p:nvSpPr>
        <p:spPr>
          <a:xfrm>
            <a:off x="7269480" y="5303520"/>
            <a:ext cx="4617720" cy="822960"/>
          </a:xfrm>
          <a:prstGeom prst="roundRect">
            <a:avLst>
              <a:gd name="adj" fmla="val 8889"/>
            </a:avLst>
          </a:prstGeom>
          <a:solidFill>
            <a:srgbClr val="EAF1FB"/>
          </a:solidFill>
          <a:ln w="15875">
            <a:solidFill>
              <a:srgbClr val="1F5AA6"/>
            </a:solidFill>
            <a:prstDash val="solid"/>
          </a:ln>
        </p:spPr>
      </p:sp>
      <p:sp>
        <p:nvSpPr>
          <p:cNvPr id="28" name="Text 25"/>
          <p:cNvSpPr txBox="1"/>
          <p:nvPr/>
        </p:nvSpPr>
        <p:spPr>
          <a:xfrm>
            <a:off x="7360920" y="5303520"/>
            <a:ext cx="4434840" cy="822960"/>
          </a:xfrm>
          <a:prstGeom prst="rect">
            <a:avLst/>
          </a:prstGeom>
          <a:noFill/>
          <a:ln/>
        </p:spPr>
        <p:txBody>
          <a:bodyPr wrap="square" lIns="0" tIns="0" rIns="0" bIns="0" rtlCol="0" anchor="ctr"/>
          <a:lstStyle/>
          <a:p>
            <a:pPr algn="ctr" indent="0" marL="0">
              <a:buNone/>
            </a:pPr>
            <a:r>
              <a:rPr lang="en-US" sz="1300" b="1" dirty="0">
                <a:solidFill>
                  <a:srgbClr val="1F5AA6"/>
                </a:solidFill>
                <a:latin typeface="Arial" pitchFamily="34" charset="0"/>
                <a:ea typeface="Arial" pitchFamily="34" charset="-122"/>
                <a:cs typeface="Arial" pitchFamily="34" charset="-120"/>
              </a:rPr>
              <a:t>WORKING PROTOTYPE BUILT AND TESTED</a:t>
            </a:r>
            <a:endParaRPr lang="en-US" sz="1300" dirty="0"/>
          </a:p>
          <a:p>
            <a:pPr algn="ctr" indent="0" marL="0">
              <a:buNone/>
            </a:pPr>
            <a:r>
              <a:rPr lang="en-US" sz="1050" dirty="0">
                <a:solidFill>
                  <a:srgbClr val="16202E"/>
                </a:solidFill>
                <a:latin typeface="Arial" pitchFamily="34" charset="0"/>
                <a:ea typeface="Arial" pitchFamily="34" charset="-122"/>
                <a:cs typeface="Arial" pitchFamily="34" charset="-120"/>
              </a:rPr>
              <a:t>414 automated tests · 112/112 browser checks · 0 accessibility (axe) violations</a:t>
            </a:r>
            <a:endParaRPr lang="en-US" sz="130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148840" y="164592"/>
            <a:ext cx="7818120" cy="713232"/>
          </a:xfrm>
          <a:prstGeom prst="rect">
            <a:avLst/>
          </a:prstGeom>
          <a:noFill/>
          <a:ln/>
        </p:spPr>
        <p:txBody>
          <a:bodyPr wrap="square" lIns="0" tIns="0" rIns="0" bIns="0" rtlCol="0" anchor="ctr"/>
          <a:lstStyle/>
          <a:p>
            <a:pPr algn="ctr" indent="0" marL="0">
              <a:buNone/>
            </a:pPr>
            <a:r>
              <a:rPr lang="en-US" sz="3200" b="1" dirty="0">
                <a:solidFill>
                  <a:srgbClr val="16202E"/>
                </a:solidFill>
                <a:latin typeface="Times New Roman" pitchFamily="34" charset="0"/>
                <a:ea typeface="Times New Roman" pitchFamily="34" charset="-122"/>
                <a:cs typeface="Times New Roman" pitchFamily="34" charset="-120"/>
              </a:rPr>
              <a:t>TECHNICAL APPROACH</a:t>
            </a:r>
            <a:endParaRPr lang="en-US" sz="3200" dirty="0"/>
          </a:p>
        </p:txBody>
      </p:sp>
      <p:sp>
        <p:nvSpPr>
          <p:cNvPr id="3" name="Text 1"/>
          <p:cNvSpPr txBox="1"/>
          <p:nvPr/>
        </p:nvSpPr>
        <p:spPr>
          <a:xfrm>
            <a:off x="320040" y="960120"/>
            <a:ext cx="7223760" cy="310896"/>
          </a:xfrm>
          <a:prstGeom prst="rect">
            <a:avLst/>
          </a:prstGeom>
          <a:noFill/>
          <a:ln/>
        </p:spPr>
        <p:txBody>
          <a:bodyPr wrap="square" lIns="0" tIns="0" rIns="0" bIns="0" rtlCol="0" anchor="ctr"/>
          <a:lstStyle/>
          <a:p>
            <a:pPr indent="0" marL="0">
              <a:buNone/>
            </a:pPr>
            <a:r>
              <a:rPr lang="en-US" sz="1400" b="1" dirty="0">
                <a:solidFill>
                  <a:srgbClr val="13233F"/>
                </a:solidFill>
                <a:latin typeface="Arial" pitchFamily="34" charset="0"/>
                <a:ea typeface="Arial" pitchFamily="34" charset="-122"/>
                <a:cs typeface="Arial" pitchFamily="34" charset="-120"/>
              </a:rPr>
              <a:t>System Architecture (passive analysis pipeline)</a:t>
            </a:r>
            <a:endParaRPr lang="en-US" sz="1400" dirty="0"/>
          </a:p>
        </p:txBody>
      </p:sp>
      <p:sp>
        <p:nvSpPr>
          <p:cNvPr id="4" name="Shape 2"/>
          <p:cNvSpPr/>
          <p:nvPr/>
        </p:nvSpPr>
        <p:spPr>
          <a:xfrm>
            <a:off x="320040" y="1280160"/>
            <a:ext cx="7269480" cy="3977640"/>
          </a:xfrm>
          <a:prstGeom prst="rect">
            <a:avLst/>
          </a:prstGeom>
          <a:solidFill>
            <a:srgbClr val="F4F6F9"/>
          </a:solidFill>
          <a:ln w="12700">
            <a:solidFill>
              <a:srgbClr val="C9D2DE"/>
            </a:solidFill>
            <a:prstDash val="solid"/>
          </a:ln>
        </p:spPr>
      </p:sp>
      <p:sp>
        <p:nvSpPr>
          <p:cNvPr id="5" name="Shape 3"/>
          <p:cNvSpPr/>
          <p:nvPr/>
        </p:nvSpPr>
        <p:spPr>
          <a:xfrm>
            <a:off x="502920" y="1481328"/>
            <a:ext cx="1572768" cy="713232"/>
          </a:xfrm>
          <a:prstGeom prst="roundRect">
            <a:avLst>
              <a:gd name="adj" fmla="val 7692"/>
            </a:avLst>
          </a:prstGeom>
          <a:solidFill>
            <a:srgbClr val="FFFFFF"/>
          </a:solidFill>
          <a:ln w="15875">
            <a:solidFill>
              <a:srgbClr val="13233F"/>
            </a:solidFill>
            <a:prstDash val="solid"/>
          </a:ln>
        </p:spPr>
      </p:sp>
      <p:sp>
        <p:nvSpPr>
          <p:cNvPr id="6" name="Text 4"/>
          <p:cNvSpPr txBox="1"/>
          <p:nvPr/>
        </p:nvSpPr>
        <p:spPr>
          <a:xfrm>
            <a:off x="539496" y="1481328"/>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3233F"/>
                </a:solidFill>
                <a:latin typeface="Arial" pitchFamily="34" charset="0"/>
                <a:ea typeface="Arial" pitchFamily="34" charset="-122"/>
                <a:cs typeface="Arial" pitchFamily="34" charset="-120"/>
              </a:rPr>
              <a:t>PCAP / PCAPNG</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SHA-256, streamed, size-capped</a:t>
            </a:r>
            <a:endParaRPr lang="en-US" sz="1050" dirty="0"/>
          </a:p>
        </p:txBody>
      </p:sp>
      <p:sp>
        <p:nvSpPr>
          <p:cNvPr id="7" name="Shape 5"/>
          <p:cNvSpPr/>
          <p:nvPr/>
        </p:nvSpPr>
        <p:spPr>
          <a:xfrm>
            <a:off x="2258568" y="1481328"/>
            <a:ext cx="1572768" cy="713232"/>
          </a:xfrm>
          <a:prstGeom prst="roundRect">
            <a:avLst>
              <a:gd name="adj" fmla="val 7692"/>
            </a:avLst>
          </a:prstGeom>
          <a:solidFill>
            <a:srgbClr val="FFFFFF"/>
          </a:solidFill>
          <a:ln w="15875">
            <a:solidFill>
              <a:srgbClr val="13233F"/>
            </a:solidFill>
            <a:prstDash val="solid"/>
          </a:ln>
        </p:spPr>
      </p:sp>
      <p:sp>
        <p:nvSpPr>
          <p:cNvPr id="8" name="Text 6"/>
          <p:cNvSpPr txBox="1"/>
          <p:nvPr/>
        </p:nvSpPr>
        <p:spPr>
          <a:xfrm>
            <a:off x="2295144" y="1481328"/>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3233F"/>
                </a:solidFill>
                <a:latin typeface="Arial" pitchFamily="34" charset="0"/>
                <a:ea typeface="Arial" pitchFamily="34" charset="-122"/>
                <a:cs typeface="Arial" pitchFamily="34" charset="-120"/>
              </a:rPr>
              <a:t>TCP reassembly</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order, gaps, overlaps</a:t>
            </a:r>
            <a:endParaRPr lang="en-US" sz="1050" dirty="0"/>
          </a:p>
        </p:txBody>
      </p:sp>
      <p:sp>
        <p:nvSpPr>
          <p:cNvPr id="9" name="Shape 7"/>
          <p:cNvSpPr/>
          <p:nvPr/>
        </p:nvSpPr>
        <p:spPr>
          <a:xfrm>
            <a:off x="2075688" y="1837944"/>
            <a:ext cx="182880" cy="0"/>
          </a:xfrm>
          <a:prstGeom prst="line">
            <a:avLst/>
          </a:prstGeom>
          <a:noFill/>
          <a:ln w="19050">
            <a:solidFill>
              <a:srgbClr val="465468"/>
            </a:solidFill>
            <a:prstDash val="solid"/>
            <a:tailEnd type="triangle"/>
          </a:ln>
        </p:spPr>
      </p:sp>
      <p:sp>
        <p:nvSpPr>
          <p:cNvPr id="10" name="Shape 8"/>
          <p:cNvSpPr/>
          <p:nvPr/>
        </p:nvSpPr>
        <p:spPr>
          <a:xfrm>
            <a:off x="4014216" y="1481328"/>
            <a:ext cx="1572768" cy="713232"/>
          </a:xfrm>
          <a:prstGeom prst="roundRect">
            <a:avLst>
              <a:gd name="adj" fmla="val 7692"/>
            </a:avLst>
          </a:prstGeom>
          <a:solidFill>
            <a:srgbClr val="FFFFFF"/>
          </a:solidFill>
          <a:ln w="15875">
            <a:solidFill>
              <a:srgbClr val="13233F"/>
            </a:solidFill>
            <a:prstDash val="solid"/>
          </a:ln>
        </p:spPr>
      </p:sp>
      <p:sp>
        <p:nvSpPr>
          <p:cNvPr id="11" name="Text 9"/>
          <p:cNvSpPr txBox="1"/>
          <p:nvPr/>
        </p:nvSpPr>
        <p:spPr>
          <a:xfrm>
            <a:off x="4050792" y="1481328"/>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3233F"/>
                </a:solidFill>
                <a:latin typeface="Arial" pitchFamily="34" charset="0"/>
                <a:ea typeface="Arial" pitchFamily="34" charset="-122"/>
                <a:cs typeface="Arial" pitchFamily="34" charset="-120"/>
              </a:rPr>
              <a:t>Protocol ID</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SMTP · IMAP · POP3</a:t>
            </a:r>
            <a:endParaRPr lang="en-US" sz="1050" dirty="0"/>
          </a:p>
        </p:txBody>
      </p:sp>
      <p:sp>
        <p:nvSpPr>
          <p:cNvPr id="12" name="Shape 10"/>
          <p:cNvSpPr/>
          <p:nvPr/>
        </p:nvSpPr>
        <p:spPr>
          <a:xfrm>
            <a:off x="3831336" y="1837944"/>
            <a:ext cx="182880" cy="0"/>
          </a:xfrm>
          <a:prstGeom prst="line">
            <a:avLst/>
          </a:prstGeom>
          <a:noFill/>
          <a:ln w="19050">
            <a:solidFill>
              <a:srgbClr val="465468"/>
            </a:solidFill>
            <a:prstDash val="solid"/>
            <a:tailEnd type="triangle"/>
          </a:ln>
        </p:spPr>
      </p:sp>
      <p:sp>
        <p:nvSpPr>
          <p:cNvPr id="13" name="Shape 11"/>
          <p:cNvSpPr/>
          <p:nvPr/>
        </p:nvSpPr>
        <p:spPr>
          <a:xfrm>
            <a:off x="5769864" y="1481328"/>
            <a:ext cx="1572768" cy="713232"/>
          </a:xfrm>
          <a:prstGeom prst="roundRect">
            <a:avLst>
              <a:gd name="adj" fmla="val 7692"/>
            </a:avLst>
          </a:prstGeom>
          <a:solidFill>
            <a:srgbClr val="FFFFFF"/>
          </a:solidFill>
          <a:ln w="15875">
            <a:solidFill>
              <a:srgbClr val="13233F"/>
            </a:solidFill>
            <a:prstDash val="solid"/>
          </a:ln>
        </p:spPr>
      </p:sp>
      <p:sp>
        <p:nvSpPr>
          <p:cNvPr id="14" name="Text 12"/>
          <p:cNvSpPr txBox="1"/>
          <p:nvPr/>
        </p:nvSpPr>
        <p:spPr>
          <a:xfrm>
            <a:off x="5806440" y="1481328"/>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3233F"/>
                </a:solidFill>
                <a:latin typeface="Arial" pitchFamily="34" charset="0"/>
                <a:ea typeface="Arial" pitchFamily="34" charset="-122"/>
                <a:cs typeface="Arial" pitchFamily="34" charset="-120"/>
              </a:rPr>
              <a:t>STARTTLS / STLS</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state machine</a:t>
            </a:r>
            <a:endParaRPr lang="en-US" sz="1050" dirty="0"/>
          </a:p>
        </p:txBody>
      </p:sp>
      <p:sp>
        <p:nvSpPr>
          <p:cNvPr id="15" name="Shape 13"/>
          <p:cNvSpPr/>
          <p:nvPr/>
        </p:nvSpPr>
        <p:spPr>
          <a:xfrm>
            <a:off x="5586984" y="1837944"/>
            <a:ext cx="182880" cy="0"/>
          </a:xfrm>
          <a:prstGeom prst="line">
            <a:avLst/>
          </a:prstGeom>
          <a:noFill/>
          <a:ln w="19050">
            <a:solidFill>
              <a:srgbClr val="465468"/>
            </a:solidFill>
            <a:prstDash val="solid"/>
            <a:tailEnd type="triangle"/>
          </a:ln>
        </p:spPr>
      </p:sp>
      <p:sp>
        <p:nvSpPr>
          <p:cNvPr id="16" name="Shape 14"/>
          <p:cNvSpPr/>
          <p:nvPr/>
        </p:nvSpPr>
        <p:spPr>
          <a:xfrm>
            <a:off x="5769864" y="2560320"/>
            <a:ext cx="1572768" cy="713232"/>
          </a:xfrm>
          <a:prstGeom prst="roundRect">
            <a:avLst>
              <a:gd name="adj" fmla="val 7692"/>
            </a:avLst>
          </a:prstGeom>
          <a:solidFill>
            <a:srgbClr val="FFFFFF"/>
          </a:solidFill>
          <a:ln w="15875">
            <a:solidFill>
              <a:srgbClr val="13233F"/>
            </a:solidFill>
            <a:prstDash val="solid"/>
          </a:ln>
        </p:spPr>
      </p:sp>
      <p:sp>
        <p:nvSpPr>
          <p:cNvPr id="17" name="Text 15"/>
          <p:cNvSpPr txBox="1"/>
          <p:nvPr/>
        </p:nvSpPr>
        <p:spPr>
          <a:xfrm>
            <a:off x="5806440" y="2560320"/>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3233F"/>
                </a:solidFill>
                <a:latin typeface="Arial" pitchFamily="34" charset="0"/>
                <a:ea typeface="Arial" pitchFamily="34" charset="-122"/>
                <a:cs typeface="Arial" pitchFamily="34" charset="-120"/>
              </a:rPr>
              <a:t>TLS handshake parser</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version, suite, key exchange, PFS</a:t>
            </a:r>
            <a:endParaRPr lang="en-US" sz="1050" dirty="0"/>
          </a:p>
        </p:txBody>
      </p:sp>
      <p:sp>
        <p:nvSpPr>
          <p:cNvPr id="18" name="Shape 16"/>
          <p:cNvSpPr/>
          <p:nvPr/>
        </p:nvSpPr>
        <p:spPr>
          <a:xfrm>
            <a:off x="4014216" y="2560320"/>
            <a:ext cx="1572768" cy="713232"/>
          </a:xfrm>
          <a:prstGeom prst="roundRect">
            <a:avLst>
              <a:gd name="adj" fmla="val 7692"/>
            </a:avLst>
          </a:prstGeom>
          <a:solidFill>
            <a:srgbClr val="FFFFFF"/>
          </a:solidFill>
          <a:ln w="15875">
            <a:solidFill>
              <a:srgbClr val="13233F"/>
            </a:solidFill>
            <a:prstDash val="solid"/>
          </a:ln>
        </p:spPr>
      </p:sp>
      <p:sp>
        <p:nvSpPr>
          <p:cNvPr id="19" name="Text 17"/>
          <p:cNvSpPr txBox="1"/>
          <p:nvPr/>
        </p:nvSpPr>
        <p:spPr>
          <a:xfrm>
            <a:off x="4050792" y="2560320"/>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3233F"/>
                </a:solidFill>
                <a:latin typeface="Arial" pitchFamily="34" charset="0"/>
                <a:ea typeface="Arial" pitchFamily="34" charset="-122"/>
                <a:cs typeface="Arial" pitchFamily="34" charset="-120"/>
              </a:rPr>
              <a:t>X.509 analyser</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validity, key, signature, chain</a:t>
            </a:r>
            <a:endParaRPr lang="en-US" sz="1050" dirty="0"/>
          </a:p>
        </p:txBody>
      </p:sp>
      <p:sp>
        <p:nvSpPr>
          <p:cNvPr id="20" name="Shape 18"/>
          <p:cNvSpPr/>
          <p:nvPr/>
        </p:nvSpPr>
        <p:spPr>
          <a:xfrm>
            <a:off x="2258568" y="2560320"/>
            <a:ext cx="1572768" cy="713232"/>
          </a:xfrm>
          <a:prstGeom prst="roundRect">
            <a:avLst>
              <a:gd name="adj" fmla="val 7692"/>
            </a:avLst>
          </a:prstGeom>
          <a:solidFill>
            <a:srgbClr val="FFFFFF"/>
          </a:solidFill>
          <a:ln w="15875">
            <a:solidFill>
              <a:srgbClr val="B42318"/>
            </a:solidFill>
            <a:prstDash val="solid"/>
          </a:ln>
        </p:spPr>
      </p:sp>
      <p:sp>
        <p:nvSpPr>
          <p:cNvPr id="21" name="Text 19"/>
          <p:cNvSpPr txBox="1"/>
          <p:nvPr/>
        </p:nvSpPr>
        <p:spPr>
          <a:xfrm>
            <a:off x="2295144" y="2560320"/>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B42318"/>
                </a:solidFill>
                <a:latin typeface="Arial" pitchFamily="34" charset="0"/>
                <a:ea typeface="Arial" pitchFamily="34" charset="-122"/>
                <a:cs typeface="Arial" pitchFamily="34" charset="-120"/>
              </a:rPr>
              <a:t>Rule engine</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19 rules, evidence class, frames</a:t>
            </a:r>
            <a:endParaRPr lang="en-US" sz="1050" dirty="0"/>
          </a:p>
        </p:txBody>
      </p:sp>
      <p:sp>
        <p:nvSpPr>
          <p:cNvPr id="22" name="Shape 20"/>
          <p:cNvSpPr/>
          <p:nvPr/>
        </p:nvSpPr>
        <p:spPr>
          <a:xfrm>
            <a:off x="502920" y="2560320"/>
            <a:ext cx="1572768" cy="713232"/>
          </a:xfrm>
          <a:prstGeom prst="roundRect">
            <a:avLst>
              <a:gd name="adj" fmla="val 7692"/>
            </a:avLst>
          </a:prstGeom>
          <a:solidFill>
            <a:srgbClr val="FFFFFF"/>
          </a:solidFill>
          <a:ln w="15875">
            <a:solidFill>
              <a:srgbClr val="1F5AA6"/>
            </a:solidFill>
            <a:prstDash val="solid"/>
          </a:ln>
        </p:spPr>
      </p:sp>
      <p:sp>
        <p:nvSpPr>
          <p:cNvPr id="23" name="Text 21"/>
          <p:cNvSpPr txBox="1"/>
          <p:nvPr/>
        </p:nvSpPr>
        <p:spPr>
          <a:xfrm>
            <a:off x="539496" y="2560320"/>
            <a:ext cx="1499616" cy="713232"/>
          </a:xfrm>
          <a:prstGeom prst="rect">
            <a:avLst/>
          </a:prstGeom>
          <a:noFill/>
          <a:ln/>
        </p:spPr>
        <p:txBody>
          <a:bodyPr wrap="square" lIns="12700" tIns="12700" rIns="12700" bIns="12700" rtlCol="0" anchor="ctr"/>
          <a:lstStyle/>
          <a:p>
            <a:pPr algn="ctr" indent="0" marL="0">
              <a:buNone/>
            </a:pPr>
            <a:r>
              <a:rPr lang="en-US" sz="1050" b="1" dirty="0">
                <a:solidFill>
                  <a:srgbClr val="1F5AA6"/>
                </a:solidFill>
                <a:latin typeface="Arial" pitchFamily="34" charset="0"/>
                <a:ea typeface="Arial" pitchFamily="34" charset="-122"/>
                <a:cs typeface="Arial" pitchFamily="34" charset="-120"/>
              </a:rPr>
              <a:t>Posture scoring</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0-100, 5 dimensions</a:t>
            </a:r>
            <a:endParaRPr lang="en-US" sz="1050" dirty="0"/>
          </a:p>
        </p:txBody>
      </p:sp>
      <p:sp>
        <p:nvSpPr>
          <p:cNvPr id="24" name="Shape 22"/>
          <p:cNvSpPr/>
          <p:nvPr/>
        </p:nvSpPr>
        <p:spPr>
          <a:xfrm>
            <a:off x="6556248" y="2194560"/>
            <a:ext cx="0" cy="365760"/>
          </a:xfrm>
          <a:prstGeom prst="line">
            <a:avLst/>
          </a:prstGeom>
          <a:noFill/>
          <a:ln w="19050">
            <a:solidFill>
              <a:srgbClr val="465468"/>
            </a:solidFill>
            <a:prstDash val="solid"/>
            <a:tailEnd type="triangle"/>
          </a:ln>
        </p:spPr>
      </p:sp>
      <p:sp>
        <p:nvSpPr>
          <p:cNvPr id="25" name="Shape 23"/>
          <p:cNvSpPr/>
          <p:nvPr/>
        </p:nvSpPr>
        <p:spPr>
          <a:xfrm flipH="1">
            <a:off x="5586984" y="2916936"/>
            <a:ext cx="182880" cy="0"/>
          </a:xfrm>
          <a:prstGeom prst="line">
            <a:avLst/>
          </a:prstGeom>
          <a:noFill/>
          <a:ln w="19050">
            <a:solidFill>
              <a:srgbClr val="465468"/>
            </a:solidFill>
            <a:prstDash val="solid"/>
            <a:tailEnd type="triangle"/>
          </a:ln>
        </p:spPr>
      </p:sp>
      <p:sp>
        <p:nvSpPr>
          <p:cNvPr id="26" name="Shape 24"/>
          <p:cNvSpPr/>
          <p:nvPr/>
        </p:nvSpPr>
        <p:spPr>
          <a:xfrm flipH="1">
            <a:off x="3831336" y="2916936"/>
            <a:ext cx="182880" cy="0"/>
          </a:xfrm>
          <a:prstGeom prst="line">
            <a:avLst/>
          </a:prstGeom>
          <a:noFill/>
          <a:ln w="19050">
            <a:solidFill>
              <a:srgbClr val="465468"/>
            </a:solidFill>
            <a:prstDash val="solid"/>
            <a:tailEnd type="triangle"/>
          </a:ln>
        </p:spPr>
      </p:sp>
      <p:sp>
        <p:nvSpPr>
          <p:cNvPr id="27" name="Shape 25"/>
          <p:cNvSpPr/>
          <p:nvPr/>
        </p:nvSpPr>
        <p:spPr>
          <a:xfrm flipH="1">
            <a:off x="2075688" y="2916936"/>
            <a:ext cx="182880" cy="0"/>
          </a:xfrm>
          <a:prstGeom prst="line">
            <a:avLst/>
          </a:prstGeom>
          <a:noFill/>
          <a:ln w="19050">
            <a:solidFill>
              <a:srgbClr val="465468"/>
            </a:solidFill>
            <a:prstDash val="solid"/>
            <a:tailEnd type="triangle"/>
          </a:ln>
        </p:spPr>
      </p:sp>
      <p:sp>
        <p:nvSpPr>
          <p:cNvPr id="28" name="Shape 26"/>
          <p:cNvSpPr/>
          <p:nvPr/>
        </p:nvSpPr>
        <p:spPr>
          <a:xfrm>
            <a:off x="502920" y="3566160"/>
            <a:ext cx="3328416" cy="658368"/>
          </a:xfrm>
          <a:prstGeom prst="roundRect">
            <a:avLst>
              <a:gd name="adj" fmla="val 8333"/>
            </a:avLst>
          </a:prstGeom>
          <a:solidFill>
            <a:srgbClr val="13233F"/>
          </a:solidFill>
          <a:ln w="15875">
            <a:solidFill>
              <a:srgbClr val="13233F"/>
            </a:solidFill>
            <a:prstDash val="solid"/>
          </a:ln>
        </p:spPr>
      </p:sp>
      <p:sp>
        <p:nvSpPr>
          <p:cNvPr id="29" name="Text 27"/>
          <p:cNvSpPr txBox="1"/>
          <p:nvPr/>
        </p:nvSpPr>
        <p:spPr>
          <a:xfrm>
            <a:off x="539496" y="3566160"/>
            <a:ext cx="3255264" cy="658368"/>
          </a:xfrm>
          <a:prstGeom prst="rect">
            <a:avLst/>
          </a:prstGeom>
          <a:noFill/>
          <a:ln/>
        </p:spPr>
        <p:txBody>
          <a:bodyPr wrap="square" lIns="12700" tIns="12700" rIns="12700" bIns="1270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Canonical evidence document</a:t>
            </a:r>
            <a:endParaRPr lang="en-US" sz="1050" dirty="0"/>
          </a:p>
          <a:p>
            <a:pPr algn="ctr" indent="0" marL="0">
              <a:buNone/>
            </a:pPr>
            <a:r>
              <a:rPr lang="en-US" sz="850" dirty="0">
                <a:solidFill>
                  <a:srgbClr val="C9D6EA"/>
                </a:solidFill>
                <a:latin typeface="Arial" pitchFamily="34" charset="0"/>
                <a:ea typeface="Arial" pitchFamily="34" charset="-122"/>
                <a:cs typeface="Arial" pitchFamily="34" charset="-120"/>
              </a:rPr>
              <a:t>capture SHA-256 · frames · policy profile · timeline</a:t>
            </a:r>
            <a:endParaRPr lang="en-US" sz="1050" dirty="0"/>
          </a:p>
        </p:txBody>
      </p:sp>
      <p:sp>
        <p:nvSpPr>
          <p:cNvPr id="30" name="Shape 28"/>
          <p:cNvSpPr/>
          <p:nvPr/>
        </p:nvSpPr>
        <p:spPr>
          <a:xfrm>
            <a:off x="4014216" y="3566160"/>
            <a:ext cx="3328416" cy="658368"/>
          </a:xfrm>
          <a:prstGeom prst="roundRect">
            <a:avLst>
              <a:gd name="adj" fmla="val 8333"/>
            </a:avLst>
          </a:prstGeom>
          <a:solidFill>
            <a:srgbClr val="FFFFFF"/>
          </a:solidFill>
          <a:ln w="15875">
            <a:solidFill>
              <a:srgbClr val="5E3C99"/>
            </a:solidFill>
            <a:prstDash val="solid"/>
          </a:ln>
        </p:spPr>
      </p:sp>
      <p:sp>
        <p:nvSpPr>
          <p:cNvPr id="31" name="Text 29"/>
          <p:cNvSpPr txBox="1"/>
          <p:nvPr/>
        </p:nvSpPr>
        <p:spPr>
          <a:xfrm>
            <a:off x="4050792" y="3566160"/>
            <a:ext cx="3255264" cy="658368"/>
          </a:xfrm>
          <a:prstGeom prst="rect">
            <a:avLst/>
          </a:prstGeom>
          <a:noFill/>
          <a:ln/>
        </p:spPr>
        <p:txBody>
          <a:bodyPr wrap="square" lIns="12700" tIns="12700" rIns="12700" bIns="12700" rtlCol="0" anchor="ctr"/>
          <a:lstStyle/>
          <a:p>
            <a:pPr algn="ctr" indent="0" marL="0">
              <a:buNone/>
            </a:pPr>
            <a:r>
              <a:rPr lang="en-US" sz="1050" b="1" dirty="0">
                <a:solidFill>
                  <a:srgbClr val="5E3C99"/>
                </a:solidFill>
                <a:latin typeface="Arial" pitchFamily="34" charset="0"/>
                <a:ea typeface="Arial" pitchFamily="34" charset="-122"/>
                <a:cs typeface="Arial" pitchFamily="34" charset="-120"/>
              </a:rPr>
              <a:t>ML: Isolation Forest v2</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ranks sessions weaker than the capture norm (supplementary)</a:t>
            </a:r>
            <a:endParaRPr lang="en-US" sz="1050" dirty="0"/>
          </a:p>
        </p:txBody>
      </p:sp>
      <p:sp>
        <p:nvSpPr>
          <p:cNvPr id="32" name="Shape 30"/>
          <p:cNvSpPr/>
          <p:nvPr/>
        </p:nvSpPr>
        <p:spPr>
          <a:xfrm>
            <a:off x="1289304" y="3273552"/>
            <a:ext cx="0" cy="292608"/>
          </a:xfrm>
          <a:prstGeom prst="line">
            <a:avLst/>
          </a:prstGeom>
          <a:noFill/>
          <a:ln w="19050">
            <a:solidFill>
              <a:srgbClr val="465468"/>
            </a:solidFill>
            <a:prstDash val="solid"/>
            <a:tailEnd type="triangle"/>
          </a:ln>
        </p:spPr>
      </p:sp>
      <p:sp>
        <p:nvSpPr>
          <p:cNvPr id="33" name="Shape 31"/>
          <p:cNvSpPr/>
          <p:nvPr/>
        </p:nvSpPr>
        <p:spPr>
          <a:xfrm>
            <a:off x="4800600" y="3273552"/>
            <a:ext cx="0" cy="292608"/>
          </a:xfrm>
          <a:prstGeom prst="line">
            <a:avLst/>
          </a:prstGeom>
          <a:noFill/>
          <a:ln w="19050">
            <a:solidFill>
              <a:srgbClr val="465468"/>
            </a:solidFill>
            <a:prstDash val="solid"/>
            <a:tailEnd type="triangle"/>
          </a:ln>
        </p:spPr>
      </p:sp>
      <p:sp>
        <p:nvSpPr>
          <p:cNvPr id="34" name="Shape 32"/>
          <p:cNvSpPr/>
          <p:nvPr/>
        </p:nvSpPr>
        <p:spPr>
          <a:xfrm flipH="1">
            <a:off x="3831336" y="3895344"/>
            <a:ext cx="182880" cy="0"/>
          </a:xfrm>
          <a:prstGeom prst="line">
            <a:avLst/>
          </a:prstGeom>
          <a:noFill/>
          <a:ln w="19050">
            <a:solidFill>
              <a:srgbClr val="465468"/>
            </a:solidFill>
            <a:prstDash val="solid"/>
            <a:tailEnd type="triangle"/>
          </a:ln>
        </p:spPr>
      </p:sp>
      <p:sp>
        <p:nvSpPr>
          <p:cNvPr id="35" name="Shape 33"/>
          <p:cNvSpPr/>
          <p:nvPr/>
        </p:nvSpPr>
        <p:spPr>
          <a:xfrm>
            <a:off x="2167128" y="4224528"/>
            <a:ext cx="0" cy="164592"/>
          </a:xfrm>
          <a:prstGeom prst="line">
            <a:avLst/>
          </a:prstGeom>
          <a:noFill/>
          <a:ln w="19050">
            <a:solidFill>
              <a:srgbClr val="465468"/>
            </a:solidFill>
            <a:prstDash val="solid"/>
          </a:ln>
        </p:spPr>
      </p:sp>
      <p:sp>
        <p:nvSpPr>
          <p:cNvPr id="36" name="Shape 34"/>
          <p:cNvSpPr/>
          <p:nvPr/>
        </p:nvSpPr>
        <p:spPr>
          <a:xfrm>
            <a:off x="1289304" y="4389120"/>
            <a:ext cx="5266944" cy="0"/>
          </a:xfrm>
          <a:prstGeom prst="line">
            <a:avLst/>
          </a:prstGeom>
          <a:noFill/>
          <a:ln w="19050">
            <a:solidFill>
              <a:srgbClr val="465468"/>
            </a:solidFill>
            <a:prstDash val="solid"/>
          </a:ln>
        </p:spPr>
      </p:sp>
      <p:sp>
        <p:nvSpPr>
          <p:cNvPr id="37" name="Shape 35"/>
          <p:cNvSpPr/>
          <p:nvPr/>
        </p:nvSpPr>
        <p:spPr>
          <a:xfrm>
            <a:off x="1289304" y="4389120"/>
            <a:ext cx="0" cy="182880"/>
          </a:xfrm>
          <a:prstGeom prst="line">
            <a:avLst/>
          </a:prstGeom>
          <a:noFill/>
          <a:ln w="19050">
            <a:solidFill>
              <a:srgbClr val="465468"/>
            </a:solidFill>
            <a:prstDash val="solid"/>
            <a:tailEnd type="triangle"/>
          </a:ln>
        </p:spPr>
      </p:sp>
      <p:sp>
        <p:nvSpPr>
          <p:cNvPr id="38" name="Shape 36"/>
          <p:cNvSpPr/>
          <p:nvPr/>
        </p:nvSpPr>
        <p:spPr>
          <a:xfrm>
            <a:off x="502920" y="4572000"/>
            <a:ext cx="1572768" cy="548640"/>
          </a:xfrm>
          <a:prstGeom prst="roundRect">
            <a:avLst>
              <a:gd name="adj" fmla="val 10000"/>
            </a:avLst>
          </a:prstGeom>
          <a:solidFill>
            <a:srgbClr val="EAF1FB"/>
          </a:solidFill>
          <a:ln w="15875">
            <a:solidFill>
              <a:srgbClr val="1F5AA6"/>
            </a:solidFill>
            <a:prstDash val="solid"/>
          </a:ln>
        </p:spPr>
      </p:sp>
      <p:sp>
        <p:nvSpPr>
          <p:cNvPr id="39" name="Text 37"/>
          <p:cNvSpPr txBox="1"/>
          <p:nvPr/>
        </p:nvSpPr>
        <p:spPr>
          <a:xfrm>
            <a:off x="539496" y="4572000"/>
            <a:ext cx="1499616" cy="548640"/>
          </a:xfrm>
          <a:prstGeom prst="rect">
            <a:avLst/>
          </a:prstGeom>
          <a:noFill/>
          <a:ln/>
        </p:spPr>
        <p:txBody>
          <a:bodyPr wrap="square" lIns="12700" tIns="12700" rIns="12700" bIns="12700" rtlCol="0" anchor="ctr"/>
          <a:lstStyle/>
          <a:p>
            <a:pPr algn="ctr" indent="0" marL="0">
              <a:buNone/>
            </a:pPr>
            <a:r>
              <a:rPr lang="en-US" sz="1050" b="1" dirty="0">
                <a:solidFill>
                  <a:srgbClr val="1F5AA6"/>
                </a:solidFill>
                <a:latin typeface="Arial" pitchFamily="34" charset="0"/>
                <a:ea typeface="Arial" pitchFamily="34" charset="-122"/>
                <a:cs typeface="Arial" pitchFamily="34" charset="-120"/>
              </a:rPr>
              <a:t>Dashboard</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React</a:t>
            </a:r>
            <a:endParaRPr lang="en-US" sz="1050" dirty="0"/>
          </a:p>
        </p:txBody>
      </p:sp>
      <p:sp>
        <p:nvSpPr>
          <p:cNvPr id="40" name="Shape 38"/>
          <p:cNvSpPr/>
          <p:nvPr/>
        </p:nvSpPr>
        <p:spPr>
          <a:xfrm>
            <a:off x="3044952" y="4389120"/>
            <a:ext cx="0" cy="182880"/>
          </a:xfrm>
          <a:prstGeom prst="line">
            <a:avLst/>
          </a:prstGeom>
          <a:noFill/>
          <a:ln w="19050">
            <a:solidFill>
              <a:srgbClr val="465468"/>
            </a:solidFill>
            <a:prstDash val="solid"/>
            <a:tailEnd type="triangle"/>
          </a:ln>
        </p:spPr>
      </p:sp>
      <p:sp>
        <p:nvSpPr>
          <p:cNvPr id="41" name="Shape 39"/>
          <p:cNvSpPr/>
          <p:nvPr/>
        </p:nvSpPr>
        <p:spPr>
          <a:xfrm>
            <a:off x="2258568" y="4572000"/>
            <a:ext cx="1572768" cy="548640"/>
          </a:xfrm>
          <a:prstGeom prst="roundRect">
            <a:avLst>
              <a:gd name="adj" fmla="val 10000"/>
            </a:avLst>
          </a:prstGeom>
          <a:solidFill>
            <a:srgbClr val="EAF1FB"/>
          </a:solidFill>
          <a:ln w="15875">
            <a:solidFill>
              <a:srgbClr val="1F5AA6"/>
            </a:solidFill>
            <a:prstDash val="solid"/>
          </a:ln>
        </p:spPr>
      </p:sp>
      <p:sp>
        <p:nvSpPr>
          <p:cNvPr id="42" name="Text 40"/>
          <p:cNvSpPr txBox="1"/>
          <p:nvPr/>
        </p:nvSpPr>
        <p:spPr>
          <a:xfrm>
            <a:off x="2295144" y="4572000"/>
            <a:ext cx="1499616" cy="548640"/>
          </a:xfrm>
          <a:prstGeom prst="rect">
            <a:avLst/>
          </a:prstGeom>
          <a:noFill/>
          <a:ln/>
        </p:spPr>
        <p:txBody>
          <a:bodyPr wrap="square" lIns="12700" tIns="12700" rIns="12700" bIns="12700" rtlCol="0" anchor="ctr"/>
          <a:lstStyle/>
          <a:p>
            <a:pPr algn="ctr" indent="0" marL="0">
              <a:buNone/>
            </a:pPr>
            <a:r>
              <a:rPr lang="en-US" sz="1050" b="1" dirty="0">
                <a:solidFill>
                  <a:srgbClr val="1F5AA6"/>
                </a:solidFill>
                <a:latin typeface="Arial" pitchFamily="34" charset="0"/>
                <a:ea typeface="Arial" pitchFamily="34" charset="-122"/>
                <a:cs typeface="Arial" pitchFamily="34" charset="-120"/>
              </a:rPr>
              <a:t>REST API</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FastAPI</a:t>
            </a:r>
            <a:endParaRPr lang="en-US" sz="1050" dirty="0"/>
          </a:p>
        </p:txBody>
      </p:sp>
      <p:sp>
        <p:nvSpPr>
          <p:cNvPr id="43" name="Shape 41"/>
          <p:cNvSpPr/>
          <p:nvPr/>
        </p:nvSpPr>
        <p:spPr>
          <a:xfrm>
            <a:off x="4800600" y="4389120"/>
            <a:ext cx="0" cy="182880"/>
          </a:xfrm>
          <a:prstGeom prst="line">
            <a:avLst/>
          </a:prstGeom>
          <a:noFill/>
          <a:ln w="19050">
            <a:solidFill>
              <a:srgbClr val="465468"/>
            </a:solidFill>
            <a:prstDash val="solid"/>
            <a:tailEnd type="triangle"/>
          </a:ln>
        </p:spPr>
      </p:sp>
      <p:sp>
        <p:nvSpPr>
          <p:cNvPr id="44" name="Shape 42"/>
          <p:cNvSpPr/>
          <p:nvPr/>
        </p:nvSpPr>
        <p:spPr>
          <a:xfrm>
            <a:off x="4014216" y="4572000"/>
            <a:ext cx="1572768" cy="548640"/>
          </a:xfrm>
          <a:prstGeom prst="roundRect">
            <a:avLst>
              <a:gd name="adj" fmla="val 10000"/>
            </a:avLst>
          </a:prstGeom>
          <a:solidFill>
            <a:srgbClr val="EAF1FB"/>
          </a:solidFill>
          <a:ln w="15875">
            <a:solidFill>
              <a:srgbClr val="1F5AA6"/>
            </a:solidFill>
            <a:prstDash val="solid"/>
          </a:ln>
        </p:spPr>
      </p:sp>
      <p:sp>
        <p:nvSpPr>
          <p:cNvPr id="45" name="Text 43"/>
          <p:cNvSpPr txBox="1"/>
          <p:nvPr/>
        </p:nvSpPr>
        <p:spPr>
          <a:xfrm>
            <a:off x="4050792" y="4572000"/>
            <a:ext cx="1499616" cy="548640"/>
          </a:xfrm>
          <a:prstGeom prst="rect">
            <a:avLst/>
          </a:prstGeom>
          <a:noFill/>
          <a:ln/>
        </p:spPr>
        <p:txBody>
          <a:bodyPr wrap="square" lIns="12700" tIns="12700" rIns="12700" bIns="12700" rtlCol="0" anchor="ctr"/>
          <a:lstStyle/>
          <a:p>
            <a:pPr algn="ctr" indent="0" marL="0">
              <a:buNone/>
            </a:pPr>
            <a:r>
              <a:rPr lang="en-US" sz="1050" b="1" dirty="0">
                <a:solidFill>
                  <a:srgbClr val="1F5AA6"/>
                </a:solidFill>
                <a:latin typeface="Arial" pitchFamily="34" charset="0"/>
                <a:ea typeface="Arial" pitchFamily="34" charset="-122"/>
                <a:cs typeface="Arial" pitchFamily="34" charset="-120"/>
              </a:rPr>
              <a:t>Reports</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JSON/HTML/PDF</a:t>
            </a:r>
            <a:endParaRPr lang="en-US" sz="1050" dirty="0"/>
          </a:p>
        </p:txBody>
      </p:sp>
      <p:sp>
        <p:nvSpPr>
          <p:cNvPr id="46" name="Shape 44"/>
          <p:cNvSpPr/>
          <p:nvPr/>
        </p:nvSpPr>
        <p:spPr>
          <a:xfrm>
            <a:off x="6556248" y="4389120"/>
            <a:ext cx="0" cy="182880"/>
          </a:xfrm>
          <a:prstGeom prst="line">
            <a:avLst/>
          </a:prstGeom>
          <a:noFill/>
          <a:ln w="19050">
            <a:solidFill>
              <a:srgbClr val="465468"/>
            </a:solidFill>
            <a:prstDash val="solid"/>
            <a:tailEnd type="triangle"/>
          </a:ln>
        </p:spPr>
      </p:sp>
      <p:sp>
        <p:nvSpPr>
          <p:cNvPr id="47" name="Shape 45"/>
          <p:cNvSpPr/>
          <p:nvPr/>
        </p:nvSpPr>
        <p:spPr>
          <a:xfrm>
            <a:off x="5769864" y="4572000"/>
            <a:ext cx="1572768" cy="548640"/>
          </a:xfrm>
          <a:prstGeom prst="roundRect">
            <a:avLst>
              <a:gd name="adj" fmla="val 10000"/>
            </a:avLst>
          </a:prstGeom>
          <a:solidFill>
            <a:srgbClr val="EAF1FB"/>
          </a:solidFill>
          <a:ln w="15875">
            <a:solidFill>
              <a:srgbClr val="1F5AA6"/>
            </a:solidFill>
            <a:prstDash val="solid"/>
          </a:ln>
        </p:spPr>
      </p:sp>
      <p:sp>
        <p:nvSpPr>
          <p:cNvPr id="48" name="Text 46"/>
          <p:cNvSpPr txBox="1"/>
          <p:nvPr/>
        </p:nvSpPr>
        <p:spPr>
          <a:xfrm>
            <a:off x="5806440" y="4572000"/>
            <a:ext cx="1499616" cy="548640"/>
          </a:xfrm>
          <a:prstGeom prst="rect">
            <a:avLst/>
          </a:prstGeom>
          <a:noFill/>
          <a:ln/>
        </p:spPr>
        <p:txBody>
          <a:bodyPr wrap="square" lIns="12700" tIns="12700" rIns="12700" bIns="12700" rtlCol="0" anchor="ctr"/>
          <a:lstStyle/>
          <a:p>
            <a:pPr algn="ctr" indent="0" marL="0">
              <a:buNone/>
            </a:pPr>
            <a:r>
              <a:rPr lang="en-US" sz="1050" b="1" dirty="0">
                <a:solidFill>
                  <a:srgbClr val="1F5AA6"/>
                </a:solidFill>
                <a:latin typeface="Arial" pitchFamily="34" charset="0"/>
                <a:ea typeface="Arial" pitchFamily="34" charset="-122"/>
                <a:cs typeface="Arial" pitchFamily="34" charset="-120"/>
              </a:rPr>
              <a:t>Bundle + STIX</a:t>
            </a:r>
            <a:endParaRPr lang="en-US" sz="1050" dirty="0"/>
          </a:p>
          <a:p>
            <a:pPr algn="ctr" indent="0" marL="0">
              <a:buNone/>
            </a:pPr>
            <a:r>
              <a:rPr lang="en-US" sz="850" dirty="0">
                <a:solidFill>
                  <a:srgbClr val="465468"/>
                </a:solidFill>
                <a:latin typeface="Arial" pitchFamily="34" charset="0"/>
                <a:ea typeface="Arial" pitchFamily="34" charset="-122"/>
                <a:cs typeface="Arial" pitchFamily="34" charset="-120"/>
              </a:rPr>
              <a:t>SHA-256 manifest</a:t>
            </a:r>
            <a:endParaRPr lang="en-US" sz="1050" dirty="0"/>
          </a:p>
        </p:txBody>
      </p:sp>
      <p:sp>
        <p:nvSpPr>
          <p:cNvPr id="49" name="Text 47"/>
          <p:cNvSpPr txBox="1"/>
          <p:nvPr/>
        </p:nvSpPr>
        <p:spPr>
          <a:xfrm>
            <a:off x="320040" y="5330952"/>
            <a:ext cx="7223760" cy="310896"/>
          </a:xfrm>
          <a:prstGeom prst="rect">
            <a:avLst/>
          </a:prstGeom>
          <a:noFill/>
          <a:ln/>
        </p:spPr>
        <p:txBody>
          <a:bodyPr wrap="square" lIns="0" tIns="0" rIns="0" bIns="0" rtlCol="0" anchor="ctr"/>
          <a:lstStyle/>
          <a:p>
            <a:pPr indent="0" marL="0">
              <a:buNone/>
            </a:pPr>
            <a:r>
              <a:rPr lang="en-US" sz="1250" b="1" dirty="0">
                <a:solidFill>
                  <a:srgbClr val="13233F"/>
                </a:solidFill>
                <a:latin typeface="Arial" pitchFamily="34" charset="0"/>
                <a:ea typeface="Arial" pitchFamily="34" charset="-122"/>
                <a:cs typeface="Arial" pitchFamily="34" charset="-120"/>
              </a:rPr>
              <a:t>Analyst workflow (8 connected steps)</a:t>
            </a:r>
            <a:endParaRPr lang="en-US" sz="1250" dirty="0"/>
          </a:p>
        </p:txBody>
      </p:sp>
      <p:sp>
        <p:nvSpPr>
          <p:cNvPr id="50" name="Shape 48"/>
          <p:cNvSpPr/>
          <p:nvPr/>
        </p:nvSpPr>
        <p:spPr>
          <a:xfrm>
            <a:off x="320040" y="5669280"/>
            <a:ext cx="950976" cy="566928"/>
          </a:xfrm>
          <a:prstGeom prst="chevron">
            <a:avLst/>
          </a:prstGeom>
          <a:solidFill>
            <a:srgbClr val="13233F"/>
          </a:solidFill>
          <a:ln w="12700">
            <a:solidFill>
              <a:srgbClr val="FFFFFF"/>
            </a:solidFill>
            <a:prstDash val="solid"/>
          </a:ln>
        </p:spPr>
      </p:sp>
      <p:sp>
        <p:nvSpPr>
          <p:cNvPr id="51" name="Shape 49"/>
          <p:cNvSpPr/>
          <p:nvPr/>
        </p:nvSpPr>
        <p:spPr>
          <a:xfrm>
            <a:off x="1229868" y="5669280"/>
            <a:ext cx="950976" cy="566928"/>
          </a:xfrm>
          <a:prstGeom prst="chevron">
            <a:avLst/>
          </a:prstGeom>
          <a:solidFill>
            <a:srgbClr val="1F5AA6"/>
          </a:solidFill>
          <a:ln w="12700">
            <a:solidFill>
              <a:srgbClr val="FFFFFF"/>
            </a:solidFill>
            <a:prstDash val="solid"/>
          </a:ln>
        </p:spPr>
      </p:sp>
      <p:sp>
        <p:nvSpPr>
          <p:cNvPr id="52" name="Shape 50"/>
          <p:cNvSpPr/>
          <p:nvPr/>
        </p:nvSpPr>
        <p:spPr>
          <a:xfrm>
            <a:off x="2139696" y="5669280"/>
            <a:ext cx="950976" cy="566928"/>
          </a:xfrm>
          <a:prstGeom prst="chevron">
            <a:avLst/>
          </a:prstGeom>
          <a:solidFill>
            <a:srgbClr val="13233F"/>
          </a:solidFill>
          <a:ln w="12700">
            <a:solidFill>
              <a:srgbClr val="FFFFFF"/>
            </a:solidFill>
            <a:prstDash val="solid"/>
          </a:ln>
        </p:spPr>
      </p:sp>
      <p:sp>
        <p:nvSpPr>
          <p:cNvPr id="53" name="Shape 51"/>
          <p:cNvSpPr/>
          <p:nvPr/>
        </p:nvSpPr>
        <p:spPr>
          <a:xfrm>
            <a:off x="3049524" y="5669280"/>
            <a:ext cx="950976" cy="566928"/>
          </a:xfrm>
          <a:prstGeom prst="chevron">
            <a:avLst/>
          </a:prstGeom>
          <a:solidFill>
            <a:srgbClr val="1F5AA6"/>
          </a:solidFill>
          <a:ln w="12700">
            <a:solidFill>
              <a:srgbClr val="FFFFFF"/>
            </a:solidFill>
            <a:prstDash val="solid"/>
          </a:ln>
        </p:spPr>
      </p:sp>
      <p:sp>
        <p:nvSpPr>
          <p:cNvPr id="54" name="Shape 52"/>
          <p:cNvSpPr/>
          <p:nvPr/>
        </p:nvSpPr>
        <p:spPr>
          <a:xfrm>
            <a:off x="3959352" y="5669280"/>
            <a:ext cx="950976" cy="566928"/>
          </a:xfrm>
          <a:prstGeom prst="chevron">
            <a:avLst/>
          </a:prstGeom>
          <a:solidFill>
            <a:srgbClr val="13233F"/>
          </a:solidFill>
          <a:ln w="12700">
            <a:solidFill>
              <a:srgbClr val="FFFFFF"/>
            </a:solidFill>
            <a:prstDash val="solid"/>
          </a:ln>
        </p:spPr>
      </p:sp>
      <p:sp>
        <p:nvSpPr>
          <p:cNvPr id="55" name="Shape 53"/>
          <p:cNvSpPr/>
          <p:nvPr/>
        </p:nvSpPr>
        <p:spPr>
          <a:xfrm>
            <a:off x="4869180" y="5669280"/>
            <a:ext cx="950976" cy="566928"/>
          </a:xfrm>
          <a:prstGeom prst="chevron">
            <a:avLst/>
          </a:prstGeom>
          <a:solidFill>
            <a:srgbClr val="1F5AA6"/>
          </a:solidFill>
          <a:ln w="12700">
            <a:solidFill>
              <a:srgbClr val="FFFFFF"/>
            </a:solidFill>
            <a:prstDash val="solid"/>
          </a:ln>
        </p:spPr>
      </p:sp>
      <p:sp>
        <p:nvSpPr>
          <p:cNvPr id="56" name="Shape 54"/>
          <p:cNvSpPr/>
          <p:nvPr/>
        </p:nvSpPr>
        <p:spPr>
          <a:xfrm>
            <a:off x="5779008" y="5669280"/>
            <a:ext cx="950976" cy="566928"/>
          </a:xfrm>
          <a:prstGeom prst="chevron">
            <a:avLst/>
          </a:prstGeom>
          <a:solidFill>
            <a:srgbClr val="13233F"/>
          </a:solidFill>
          <a:ln w="12700">
            <a:solidFill>
              <a:srgbClr val="FFFFFF"/>
            </a:solidFill>
            <a:prstDash val="solid"/>
          </a:ln>
        </p:spPr>
      </p:sp>
      <p:sp>
        <p:nvSpPr>
          <p:cNvPr id="57" name="Shape 55"/>
          <p:cNvSpPr/>
          <p:nvPr/>
        </p:nvSpPr>
        <p:spPr>
          <a:xfrm>
            <a:off x="6688836" y="5669280"/>
            <a:ext cx="950976" cy="566928"/>
          </a:xfrm>
          <a:prstGeom prst="chevron">
            <a:avLst/>
          </a:prstGeom>
          <a:solidFill>
            <a:srgbClr val="1F5AA6"/>
          </a:solidFill>
          <a:ln w="12700">
            <a:solidFill>
              <a:srgbClr val="FFFFFF"/>
            </a:solidFill>
            <a:prstDash val="solid"/>
          </a:ln>
        </p:spPr>
      </p:sp>
      <p:sp>
        <p:nvSpPr>
          <p:cNvPr id="58" name="Text 56"/>
          <p:cNvSpPr txBox="1"/>
          <p:nvPr/>
        </p:nvSpPr>
        <p:spPr>
          <a:xfrm>
            <a:off x="502920"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1</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Capture</a:t>
            </a:r>
            <a:endParaRPr lang="en-US" sz="800" dirty="0"/>
          </a:p>
        </p:txBody>
      </p:sp>
      <p:sp>
        <p:nvSpPr>
          <p:cNvPr id="59" name="Text 57"/>
          <p:cNvSpPr txBox="1"/>
          <p:nvPr/>
        </p:nvSpPr>
        <p:spPr>
          <a:xfrm>
            <a:off x="1412748"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2</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Analyze</a:t>
            </a:r>
            <a:endParaRPr lang="en-US" sz="800" dirty="0"/>
          </a:p>
        </p:txBody>
      </p:sp>
      <p:sp>
        <p:nvSpPr>
          <p:cNvPr id="60" name="Text 58"/>
          <p:cNvSpPr txBox="1"/>
          <p:nvPr/>
        </p:nvSpPr>
        <p:spPr>
          <a:xfrm>
            <a:off x="2322576"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3</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Posture</a:t>
            </a:r>
            <a:endParaRPr lang="en-US" sz="800" dirty="0"/>
          </a:p>
        </p:txBody>
      </p:sp>
      <p:sp>
        <p:nvSpPr>
          <p:cNvPr id="61" name="Text 59"/>
          <p:cNvSpPr txBox="1"/>
          <p:nvPr/>
        </p:nvSpPr>
        <p:spPr>
          <a:xfrm>
            <a:off x="3232404"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4</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Findings</a:t>
            </a:r>
            <a:endParaRPr lang="en-US" sz="800" dirty="0"/>
          </a:p>
        </p:txBody>
      </p:sp>
      <p:sp>
        <p:nvSpPr>
          <p:cNvPr id="62" name="Text 60"/>
          <p:cNvSpPr txBox="1"/>
          <p:nvPr/>
        </p:nvSpPr>
        <p:spPr>
          <a:xfrm>
            <a:off x="4142232"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5</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Sessions</a:t>
            </a:r>
            <a:endParaRPr lang="en-US" sz="800" dirty="0"/>
          </a:p>
        </p:txBody>
      </p:sp>
      <p:sp>
        <p:nvSpPr>
          <p:cNvPr id="63" name="Text 61"/>
          <p:cNvSpPr txBox="1"/>
          <p:nvPr/>
        </p:nvSpPr>
        <p:spPr>
          <a:xfrm>
            <a:off x="5052060"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6</a:t>
            </a:r>
            <a:endParaRPr lang="en-US" sz="800" dirty="0"/>
          </a:p>
          <a:p>
            <a:pPr algn="ctr" indent="0" marL="0">
              <a:buNone/>
            </a:pPr>
            <a:r>
              <a:rPr lang="en-US" sz="750" b="1" dirty="0">
                <a:solidFill>
                  <a:srgbClr val="FFFFFF"/>
                </a:solidFill>
                <a:latin typeface="Arial" pitchFamily="34" charset="0"/>
                <a:ea typeface="Arial" pitchFamily="34" charset="-122"/>
                <a:cs typeface="Arial" pitchFamily="34" charset="-120"/>
              </a:rPr>
              <a:t>Certificates</a:t>
            </a:r>
            <a:endParaRPr lang="en-US" sz="800" dirty="0"/>
          </a:p>
        </p:txBody>
      </p:sp>
      <p:sp>
        <p:nvSpPr>
          <p:cNvPr id="64" name="Text 62"/>
          <p:cNvSpPr txBox="1"/>
          <p:nvPr/>
        </p:nvSpPr>
        <p:spPr>
          <a:xfrm>
            <a:off x="5961888"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7</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Evidence</a:t>
            </a:r>
            <a:endParaRPr lang="en-US" sz="800" dirty="0"/>
          </a:p>
        </p:txBody>
      </p:sp>
      <p:sp>
        <p:nvSpPr>
          <p:cNvPr id="65" name="Text 63"/>
          <p:cNvSpPr txBox="1"/>
          <p:nvPr/>
        </p:nvSpPr>
        <p:spPr>
          <a:xfrm>
            <a:off x="6871716" y="5669280"/>
            <a:ext cx="658368" cy="566928"/>
          </a:xfrm>
          <a:prstGeom prst="rect">
            <a:avLst/>
          </a:prstGeom>
          <a:noFill/>
          <a:ln/>
        </p:spPr>
        <p:txBody>
          <a:bodyPr wrap="square" lIns="0" tIns="0" rIns="0" bIns="0" rtlCol="0" anchor="ctr"/>
          <a:lstStyle/>
          <a:p>
            <a:pPr algn="ctr" indent="0" marL="0">
              <a:buNone/>
            </a:pPr>
            <a:r>
              <a:rPr lang="en-US" sz="800" b="1" dirty="0">
                <a:solidFill>
                  <a:srgbClr val="C9D6EA"/>
                </a:solidFill>
                <a:latin typeface="Arial" pitchFamily="34" charset="0"/>
                <a:ea typeface="Arial" pitchFamily="34" charset="-122"/>
                <a:cs typeface="Arial" pitchFamily="34" charset="-120"/>
              </a:rPr>
              <a:t>8</a:t>
            </a:r>
            <a:endParaRPr lang="en-US" sz="800" dirty="0"/>
          </a:p>
          <a:p>
            <a:pPr algn="ctr" indent="0" marL="0">
              <a:buNone/>
            </a:pPr>
            <a:r>
              <a:rPr lang="en-US" sz="850" b="1" dirty="0">
                <a:solidFill>
                  <a:srgbClr val="FFFFFF"/>
                </a:solidFill>
                <a:latin typeface="Arial" pitchFamily="34" charset="0"/>
                <a:ea typeface="Arial" pitchFamily="34" charset="-122"/>
                <a:cs typeface="Arial" pitchFamily="34" charset="-120"/>
              </a:rPr>
              <a:t>Report</a:t>
            </a:r>
            <a:endParaRPr lang="en-US" sz="800" dirty="0"/>
          </a:p>
        </p:txBody>
      </p:sp>
      <p:sp>
        <p:nvSpPr>
          <p:cNvPr id="66" name="Text 64"/>
          <p:cNvSpPr txBox="1"/>
          <p:nvPr/>
        </p:nvSpPr>
        <p:spPr>
          <a:xfrm>
            <a:off x="7818120" y="960120"/>
            <a:ext cx="4069080" cy="310896"/>
          </a:xfrm>
          <a:prstGeom prst="rect">
            <a:avLst/>
          </a:prstGeom>
          <a:noFill/>
          <a:ln/>
        </p:spPr>
        <p:txBody>
          <a:bodyPr wrap="square" lIns="0" tIns="0" rIns="0" bIns="0" rtlCol="0" anchor="ctr"/>
          <a:lstStyle/>
          <a:p>
            <a:pPr indent="0" marL="0">
              <a:buNone/>
            </a:pPr>
            <a:r>
              <a:rPr lang="en-US" sz="1400" b="1" dirty="0">
                <a:solidFill>
                  <a:srgbClr val="13233F"/>
                </a:solidFill>
                <a:latin typeface="Arial" pitchFamily="34" charset="0"/>
                <a:ea typeface="Arial" pitchFamily="34" charset="-122"/>
                <a:cs typeface="Arial" pitchFamily="34" charset="-120"/>
              </a:rPr>
              <a:t>Languages, Frameworks &amp; Libraries</a:t>
            </a:r>
            <a:endParaRPr lang="en-US" sz="1400" dirty="0"/>
          </a:p>
        </p:txBody>
      </p:sp>
      <p:sp>
        <p:nvSpPr>
          <p:cNvPr id="67" name="Shape 65"/>
          <p:cNvSpPr/>
          <p:nvPr/>
        </p:nvSpPr>
        <p:spPr>
          <a:xfrm>
            <a:off x="7818120" y="1280160"/>
            <a:ext cx="4069080" cy="3017520"/>
          </a:xfrm>
          <a:prstGeom prst="rect">
            <a:avLst/>
          </a:prstGeom>
          <a:solidFill>
            <a:srgbClr val="FFFFFF"/>
          </a:solidFill>
          <a:ln w="12700">
            <a:solidFill>
              <a:srgbClr val="C9D2DE"/>
            </a:solidFill>
            <a:prstDash val="solid"/>
          </a:ln>
        </p:spPr>
      </p:sp>
      <p:pic>
        <p:nvPicPr>
          <p:cNvPr id="68" name="Image 0" descr="preencoded.png">    </p:cNvPr>
          <p:cNvPicPr>
            <a:picLocks noChangeAspect="1"/>
          </p:cNvPicPr>
          <p:nvPr/>
        </p:nvPicPr>
        <p:blipFill>
          <a:blip r:embed="rId1"/>
          <a:stretch>
            <a:fillRect/>
          </a:stretch>
        </p:blipFill>
        <p:spPr>
          <a:xfrm>
            <a:off x="8275320" y="1389888"/>
            <a:ext cx="402336" cy="402336"/>
          </a:xfrm>
          <a:prstGeom prst="rect">
            <a:avLst/>
          </a:prstGeom>
        </p:spPr>
      </p:pic>
      <p:sp>
        <p:nvSpPr>
          <p:cNvPr id="69" name="Text 66"/>
          <p:cNvSpPr txBox="1"/>
          <p:nvPr/>
        </p:nvSpPr>
        <p:spPr>
          <a:xfrm>
            <a:off x="7955280" y="180136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Python</a:t>
            </a:r>
            <a:endParaRPr lang="en-US" sz="900" dirty="0"/>
          </a:p>
        </p:txBody>
      </p:sp>
      <p:pic>
        <p:nvPicPr>
          <p:cNvPr id="70" name="Image 1" descr="preencoded.png">    </p:cNvPr>
          <p:cNvPicPr>
            <a:picLocks noChangeAspect="1"/>
          </p:cNvPicPr>
          <p:nvPr/>
        </p:nvPicPr>
        <p:blipFill>
          <a:blip r:embed="rId2"/>
          <a:stretch>
            <a:fillRect/>
          </a:stretch>
        </p:blipFill>
        <p:spPr>
          <a:xfrm>
            <a:off x="9253728" y="1389888"/>
            <a:ext cx="402336" cy="402336"/>
          </a:xfrm>
          <a:prstGeom prst="rect">
            <a:avLst/>
          </a:prstGeom>
        </p:spPr>
      </p:pic>
      <p:sp>
        <p:nvSpPr>
          <p:cNvPr id="71" name="Text 67"/>
          <p:cNvSpPr txBox="1"/>
          <p:nvPr/>
        </p:nvSpPr>
        <p:spPr>
          <a:xfrm>
            <a:off x="8933688" y="180136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FastAPI</a:t>
            </a:r>
            <a:endParaRPr lang="en-US" sz="900" dirty="0"/>
          </a:p>
        </p:txBody>
      </p:sp>
      <p:pic>
        <p:nvPicPr>
          <p:cNvPr id="72" name="Image 2" descr="preencoded.png">    </p:cNvPr>
          <p:cNvPicPr>
            <a:picLocks noChangeAspect="1"/>
          </p:cNvPicPr>
          <p:nvPr/>
        </p:nvPicPr>
        <p:blipFill>
          <a:blip r:embed="rId3"/>
          <a:stretch>
            <a:fillRect/>
          </a:stretch>
        </p:blipFill>
        <p:spPr>
          <a:xfrm>
            <a:off x="10232136" y="1389888"/>
            <a:ext cx="402336" cy="402336"/>
          </a:xfrm>
          <a:prstGeom prst="rect">
            <a:avLst/>
          </a:prstGeom>
        </p:spPr>
      </p:pic>
      <p:sp>
        <p:nvSpPr>
          <p:cNvPr id="73" name="Text 68"/>
          <p:cNvSpPr txBox="1"/>
          <p:nvPr/>
        </p:nvSpPr>
        <p:spPr>
          <a:xfrm>
            <a:off x="9912096" y="180136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SQLAlchemy</a:t>
            </a:r>
            <a:endParaRPr lang="en-US" sz="900" dirty="0"/>
          </a:p>
        </p:txBody>
      </p:sp>
      <p:pic>
        <p:nvPicPr>
          <p:cNvPr id="74" name="Image 3" descr="preencoded.png">    </p:cNvPr>
          <p:cNvPicPr>
            <a:picLocks noChangeAspect="1"/>
          </p:cNvPicPr>
          <p:nvPr/>
        </p:nvPicPr>
        <p:blipFill>
          <a:blip r:embed="rId4"/>
          <a:stretch>
            <a:fillRect/>
          </a:stretch>
        </p:blipFill>
        <p:spPr>
          <a:xfrm>
            <a:off x="11210544" y="1389888"/>
            <a:ext cx="402336" cy="402336"/>
          </a:xfrm>
          <a:prstGeom prst="rect">
            <a:avLst/>
          </a:prstGeom>
        </p:spPr>
      </p:pic>
      <p:sp>
        <p:nvSpPr>
          <p:cNvPr id="75" name="Text 69"/>
          <p:cNvSpPr txBox="1"/>
          <p:nvPr/>
        </p:nvSpPr>
        <p:spPr>
          <a:xfrm>
            <a:off x="10890504" y="180136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SQLite</a:t>
            </a:r>
            <a:endParaRPr lang="en-US" sz="900" dirty="0"/>
          </a:p>
        </p:txBody>
      </p:sp>
      <p:pic>
        <p:nvPicPr>
          <p:cNvPr id="76" name="Image 4" descr="preencoded.png">    </p:cNvPr>
          <p:cNvPicPr>
            <a:picLocks noChangeAspect="1"/>
          </p:cNvPicPr>
          <p:nvPr/>
        </p:nvPicPr>
        <p:blipFill>
          <a:blip r:embed="rId5"/>
          <a:stretch>
            <a:fillRect/>
          </a:stretch>
        </p:blipFill>
        <p:spPr>
          <a:xfrm>
            <a:off x="8275320" y="2121408"/>
            <a:ext cx="402336" cy="402336"/>
          </a:xfrm>
          <a:prstGeom prst="rect">
            <a:avLst/>
          </a:prstGeom>
        </p:spPr>
      </p:pic>
      <p:sp>
        <p:nvSpPr>
          <p:cNvPr id="77" name="Text 70"/>
          <p:cNvSpPr txBox="1"/>
          <p:nvPr/>
        </p:nvSpPr>
        <p:spPr>
          <a:xfrm>
            <a:off x="7955280" y="253288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scikit-learn</a:t>
            </a:r>
            <a:endParaRPr lang="en-US" sz="900" dirty="0"/>
          </a:p>
        </p:txBody>
      </p:sp>
      <p:pic>
        <p:nvPicPr>
          <p:cNvPr id="78" name="Image 5" descr="preencoded.png">    </p:cNvPr>
          <p:cNvPicPr>
            <a:picLocks noChangeAspect="1"/>
          </p:cNvPicPr>
          <p:nvPr/>
        </p:nvPicPr>
        <p:blipFill>
          <a:blip r:embed="rId6"/>
          <a:stretch>
            <a:fillRect/>
          </a:stretch>
        </p:blipFill>
        <p:spPr>
          <a:xfrm>
            <a:off x="9253728" y="2121408"/>
            <a:ext cx="402336" cy="402336"/>
          </a:xfrm>
          <a:prstGeom prst="rect">
            <a:avLst/>
          </a:prstGeom>
        </p:spPr>
      </p:pic>
      <p:sp>
        <p:nvSpPr>
          <p:cNvPr id="79" name="Text 71"/>
          <p:cNvSpPr txBox="1"/>
          <p:nvPr/>
        </p:nvSpPr>
        <p:spPr>
          <a:xfrm>
            <a:off x="8933688" y="253288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NumPy</a:t>
            </a:r>
            <a:endParaRPr lang="en-US" sz="900" dirty="0"/>
          </a:p>
        </p:txBody>
      </p:sp>
      <p:pic>
        <p:nvPicPr>
          <p:cNvPr id="80" name="Image 6" descr="preencoded.png">    </p:cNvPr>
          <p:cNvPicPr>
            <a:picLocks noChangeAspect="1"/>
          </p:cNvPicPr>
          <p:nvPr/>
        </p:nvPicPr>
        <p:blipFill>
          <a:blip r:embed="rId7"/>
          <a:stretch>
            <a:fillRect/>
          </a:stretch>
        </p:blipFill>
        <p:spPr>
          <a:xfrm>
            <a:off x="10232136" y="2121408"/>
            <a:ext cx="402336" cy="402336"/>
          </a:xfrm>
          <a:prstGeom prst="rect">
            <a:avLst/>
          </a:prstGeom>
        </p:spPr>
      </p:pic>
      <p:sp>
        <p:nvSpPr>
          <p:cNvPr id="81" name="Text 72"/>
          <p:cNvSpPr txBox="1"/>
          <p:nvPr/>
        </p:nvSpPr>
        <p:spPr>
          <a:xfrm>
            <a:off x="9912096" y="253288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Pydantic</a:t>
            </a:r>
            <a:endParaRPr lang="en-US" sz="900" dirty="0"/>
          </a:p>
        </p:txBody>
      </p:sp>
      <p:pic>
        <p:nvPicPr>
          <p:cNvPr id="82" name="Image 7" descr="preencoded.png">    </p:cNvPr>
          <p:cNvPicPr>
            <a:picLocks noChangeAspect="1"/>
          </p:cNvPicPr>
          <p:nvPr/>
        </p:nvPicPr>
        <p:blipFill>
          <a:blip r:embed="rId8"/>
          <a:stretch>
            <a:fillRect/>
          </a:stretch>
        </p:blipFill>
        <p:spPr>
          <a:xfrm>
            <a:off x="11210544" y="2121408"/>
            <a:ext cx="402336" cy="402336"/>
          </a:xfrm>
          <a:prstGeom prst="rect">
            <a:avLst/>
          </a:prstGeom>
        </p:spPr>
      </p:pic>
      <p:sp>
        <p:nvSpPr>
          <p:cNvPr id="83" name="Text 73"/>
          <p:cNvSpPr txBox="1"/>
          <p:nvPr/>
        </p:nvSpPr>
        <p:spPr>
          <a:xfrm>
            <a:off x="10890504" y="253288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Jinja2</a:t>
            </a:r>
            <a:endParaRPr lang="en-US" sz="900" dirty="0"/>
          </a:p>
        </p:txBody>
      </p:sp>
      <p:pic>
        <p:nvPicPr>
          <p:cNvPr id="84" name="Image 8" descr="preencoded.png">    </p:cNvPr>
          <p:cNvPicPr>
            <a:picLocks noChangeAspect="1"/>
          </p:cNvPicPr>
          <p:nvPr/>
        </p:nvPicPr>
        <p:blipFill>
          <a:blip r:embed="rId9"/>
          <a:stretch>
            <a:fillRect/>
          </a:stretch>
        </p:blipFill>
        <p:spPr>
          <a:xfrm>
            <a:off x="8275320" y="2852928"/>
            <a:ext cx="402336" cy="402336"/>
          </a:xfrm>
          <a:prstGeom prst="rect">
            <a:avLst/>
          </a:prstGeom>
        </p:spPr>
      </p:pic>
      <p:sp>
        <p:nvSpPr>
          <p:cNvPr id="85" name="Text 74"/>
          <p:cNvSpPr txBox="1"/>
          <p:nvPr/>
        </p:nvSpPr>
        <p:spPr>
          <a:xfrm>
            <a:off x="7955280" y="326440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React</a:t>
            </a:r>
            <a:endParaRPr lang="en-US" sz="900" dirty="0"/>
          </a:p>
        </p:txBody>
      </p:sp>
      <p:pic>
        <p:nvPicPr>
          <p:cNvPr id="86" name="Image 9" descr="preencoded.png">    </p:cNvPr>
          <p:cNvPicPr>
            <a:picLocks noChangeAspect="1"/>
          </p:cNvPicPr>
          <p:nvPr/>
        </p:nvPicPr>
        <p:blipFill>
          <a:blip r:embed="rId10"/>
          <a:stretch>
            <a:fillRect/>
          </a:stretch>
        </p:blipFill>
        <p:spPr>
          <a:xfrm>
            <a:off x="9253728" y="2852928"/>
            <a:ext cx="402336" cy="402336"/>
          </a:xfrm>
          <a:prstGeom prst="rect">
            <a:avLst/>
          </a:prstGeom>
        </p:spPr>
      </p:pic>
      <p:sp>
        <p:nvSpPr>
          <p:cNvPr id="87" name="Text 75"/>
          <p:cNvSpPr txBox="1"/>
          <p:nvPr/>
        </p:nvSpPr>
        <p:spPr>
          <a:xfrm>
            <a:off x="8933688" y="326440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TypeScript</a:t>
            </a:r>
            <a:endParaRPr lang="en-US" sz="900" dirty="0"/>
          </a:p>
        </p:txBody>
      </p:sp>
      <p:pic>
        <p:nvPicPr>
          <p:cNvPr id="88" name="Image 10" descr="preencoded.png">    </p:cNvPr>
          <p:cNvPicPr>
            <a:picLocks noChangeAspect="1"/>
          </p:cNvPicPr>
          <p:nvPr/>
        </p:nvPicPr>
        <p:blipFill>
          <a:blip r:embed="rId11"/>
          <a:stretch>
            <a:fillRect/>
          </a:stretch>
        </p:blipFill>
        <p:spPr>
          <a:xfrm>
            <a:off x="10232136" y="2852928"/>
            <a:ext cx="402336" cy="402336"/>
          </a:xfrm>
          <a:prstGeom prst="rect">
            <a:avLst/>
          </a:prstGeom>
        </p:spPr>
      </p:pic>
      <p:sp>
        <p:nvSpPr>
          <p:cNvPr id="89" name="Text 76"/>
          <p:cNvSpPr txBox="1"/>
          <p:nvPr/>
        </p:nvSpPr>
        <p:spPr>
          <a:xfrm>
            <a:off x="9912096" y="326440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Vite</a:t>
            </a:r>
            <a:endParaRPr lang="en-US" sz="900" dirty="0"/>
          </a:p>
        </p:txBody>
      </p:sp>
      <p:pic>
        <p:nvPicPr>
          <p:cNvPr id="90" name="Image 11" descr="preencoded.png">    </p:cNvPr>
          <p:cNvPicPr>
            <a:picLocks noChangeAspect="1"/>
          </p:cNvPicPr>
          <p:nvPr/>
        </p:nvPicPr>
        <p:blipFill>
          <a:blip r:embed="rId12"/>
          <a:stretch>
            <a:fillRect/>
          </a:stretch>
        </p:blipFill>
        <p:spPr>
          <a:xfrm>
            <a:off x="11210544" y="2852928"/>
            <a:ext cx="402336" cy="402336"/>
          </a:xfrm>
          <a:prstGeom prst="rect">
            <a:avLst/>
          </a:prstGeom>
        </p:spPr>
      </p:pic>
      <p:sp>
        <p:nvSpPr>
          <p:cNvPr id="91" name="Text 77"/>
          <p:cNvSpPr txBox="1"/>
          <p:nvPr/>
        </p:nvSpPr>
        <p:spPr>
          <a:xfrm>
            <a:off x="10890504" y="3264408"/>
            <a:ext cx="1051560" cy="237744"/>
          </a:xfrm>
          <a:prstGeom prst="rect">
            <a:avLst/>
          </a:prstGeom>
          <a:noFill/>
          <a:ln/>
        </p:spPr>
        <p:txBody>
          <a:bodyPr wrap="square" lIns="0" tIns="0" rIns="0" bIns="0" rtlCol="0" anchor="ctr"/>
          <a:lstStyle/>
          <a:p>
            <a:pPr algn="ctr" indent="0" marL="0">
              <a:buNone/>
            </a:pPr>
            <a:r>
              <a:rPr lang="en-US" sz="900" dirty="0">
                <a:solidFill>
                  <a:srgbClr val="465468"/>
                </a:solidFill>
                <a:latin typeface="Arial" pitchFamily="34" charset="0"/>
                <a:ea typeface="Arial" pitchFamily="34" charset="-122"/>
                <a:cs typeface="Arial" pitchFamily="34" charset="-120"/>
              </a:rPr>
              <a:t>Tailwind</a:t>
            </a:r>
            <a:endParaRPr lang="en-US" sz="900" dirty="0"/>
          </a:p>
        </p:txBody>
      </p:sp>
      <p:sp>
        <p:nvSpPr>
          <p:cNvPr id="92" name="Text 78"/>
          <p:cNvSpPr txBox="1"/>
          <p:nvPr/>
        </p:nvSpPr>
        <p:spPr>
          <a:xfrm>
            <a:off x="7955280" y="3675888"/>
            <a:ext cx="3794760" cy="566928"/>
          </a:xfrm>
          <a:prstGeom prst="rect">
            <a:avLst/>
          </a:prstGeom>
          <a:noFill/>
          <a:ln/>
        </p:spPr>
        <p:txBody>
          <a:bodyPr wrap="square" lIns="0" tIns="0" rIns="0" bIns="0" rtlCol="0" anchor="ctr"/>
          <a:lstStyle/>
          <a:p>
            <a:pPr indent="0" marL="0">
              <a:buNone/>
            </a:pPr>
            <a:r>
              <a:rPr lang="en-US" sz="950" b="1" dirty="0">
                <a:solidFill>
                  <a:srgbClr val="16202E"/>
                </a:solidFill>
                <a:latin typeface="Arial" pitchFamily="34" charset="0"/>
                <a:ea typeface="Arial" pitchFamily="34" charset="-122"/>
                <a:cs typeface="Arial" pitchFamily="34" charset="-120"/>
              </a:rPr>
              <a:t>Packet &amp; crypto: </a:t>
            </a:r>
            <a:pPr indent="0" marL="0">
              <a:buNone/>
            </a:pPr>
            <a:r>
              <a:rPr lang="en-US" sz="950" dirty="0">
                <a:solidFill>
                  <a:srgbClr val="465468"/>
                </a:solidFill>
                <a:latin typeface="Arial" pitchFamily="34" charset="0"/>
                <a:ea typeface="Arial" pitchFamily="34" charset="-122"/>
                <a:cs typeface="Arial" pitchFamily="34" charset="-120"/>
              </a:rPr>
              <a:t>dpkt, cryptography (X.509), IANA cipher registry</a:t>
            </a:r>
            <a:endParaRPr lang="en-US" sz="950" dirty="0"/>
          </a:p>
          <a:p>
            <a:pPr indent="0" marL="0">
              <a:buNone/>
            </a:pPr>
            <a:r>
              <a:rPr lang="en-US" sz="950" b="1" dirty="0">
                <a:solidFill>
                  <a:srgbClr val="16202E"/>
                </a:solidFill>
                <a:latin typeface="Arial" pitchFamily="34" charset="0"/>
                <a:ea typeface="Arial" pitchFamily="34" charset="-122"/>
                <a:cs typeface="Arial" pitchFamily="34" charset="-120"/>
              </a:rPr>
              <a:t>Reports: </a:t>
            </a:r>
            <a:pPr indent="0" marL="0">
              <a:buNone/>
            </a:pPr>
            <a:r>
              <a:rPr lang="en-US" sz="950" dirty="0">
                <a:solidFill>
                  <a:srgbClr val="465468"/>
                </a:solidFill>
                <a:latin typeface="Arial" pitchFamily="34" charset="0"/>
                <a:ea typeface="Arial" pitchFamily="34" charset="-122"/>
                <a:cs typeface="Arial" pitchFamily="34" charset="-120"/>
              </a:rPr>
              <a:t>ReportLab (PDF), STIX 2.1 (stix2)</a:t>
            </a:r>
            <a:endParaRPr lang="en-US" sz="950" dirty="0"/>
          </a:p>
        </p:txBody>
      </p:sp>
      <p:sp>
        <p:nvSpPr>
          <p:cNvPr id="93" name="Text 79"/>
          <p:cNvSpPr txBox="1"/>
          <p:nvPr/>
        </p:nvSpPr>
        <p:spPr>
          <a:xfrm>
            <a:off x="7818120" y="4434840"/>
            <a:ext cx="4069080" cy="310896"/>
          </a:xfrm>
          <a:prstGeom prst="rect">
            <a:avLst/>
          </a:prstGeom>
          <a:noFill/>
          <a:ln/>
        </p:spPr>
        <p:txBody>
          <a:bodyPr wrap="square" lIns="0" tIns="0" rIns="0" bIns="0" rtlCol="0" anchor="ctr"/>
          <a:lstStyle/>
          <a:p>
            <a:pPr indent="0" marL="0">
              <a:buNone/>
            </a:pPr>
            <a:r>
              <a:rPr lang="en-US" sz="1400" b="1" dirty="0">
                <a:solidFill>
                  <a:srgbClr val="13233F"/>
                </a:solidFill>
                <a:latin typeface="Arial" pitchFamily="34" charset="0"/>
                <a:ea typeface="Arial" pitchFamily="34" charset="-122"/>
                <a:cs typeface="Arial" pitchFamily="34" charset="-120"/>
              </a:rPr>
              <a:t>Testing &amp; Validation Tools</a:t>
            </a:r>
            <a:endParaRPr lang="en-US" sz="1400" dirty="0"/>
          </a:p>
        </p:txBody>
      </p:sp>
      <p:sp>
        <p:nvSpPr>
          <p:cNvPr id="94" name="Shape 80"/>
          <p:cNvSpPr/>
          <p:nvPr/>
        </p:nvSpPr>
        <p:spPr>
          <a:xfrm>
            <a:off x="7818120" y="4754880"/>
            <a:ext cx="4069080" cy="1508760"/>
          </a:xfrm>
          <a:prstGeom prst="rect">
            <a:avLst/>
          </a:prstGeom>
          <a:solidFill>
            <a:srgbClr val="F4F6F9"/>
          </a:solidFill>
          <a:ln w="12700">
            <a:solidFill>
              <a:srgbClr val="C9D2DE"/>
            </a:solidFill>
            <a:prstDash val="solid"/>
          </a:ln>
        </p:spPr>
      </p:sp>
      <p:pic>
        <p:nvPicPr>
          <p:cNvPr id="95" name="Image 12" descr="preencoded.png">    </p:cNvPr>
          <p:cNvPicPr>
            <a:picLocks noChangeAspect="1"/>
          </p:cNvPicPr>
          <p:nvPr/>
        </p:nvPicPr>
        <p:blipFill>
          <a:blip r:embed="rId13"/>
          <a:stretch>
            <a:fillRect/>
          </a:stretch>
        </p:blipFill>
        <p:spPr>
          <a:xfrm>
            <a:off x="7982712" y="4873752"/>
            <a:ext cx="384048" cy="384048"/>
          </a:xfrm>
          <a:prstGeom prst="rect">
            <a:avLst/>
          </a:prstGeom>
        </p:spPr>
      </p:pic>
      <p:sp>
        <p:nvSpPr>
          <p:cNvPr id="96" name="Text 81"/>
          <p:cNvSpPr txBox="1"/>
          <p:nvPr/>
        </p:nvSpPr>
        <p:spPr>
          <a:xfrm>
            <a:off x="8458200" y="4809744"/>
            <a:ext cx="3337560" cy="1417320"/>
          </a:xfrm>
          <a:prstGeom prst="rect">
            <a:avLst/>
          </a:prstGeom>
          <a:noFill/>
          <a:ln/>
        </p:spPr>
        <p:txBody>
          <a:bodyPr wrap="square" lIns="0" tIns="0" rIns="0" bIns="0" rtlCol="0" anchor="t"/>
          <a:lstStyle/>
          <a:p>
            <a:pPr marL="177800" indent="-177800">
              <a:spcAft>
                <a:spcPts val="300"/>
              </a:spcAft>
              <a:buSzPct val="100000"/>
              <a:buChar char="•"/>
            </a:pPr>
            <a:r>
              <a:rPr lang="en-US" sz="1000" b="1" dirty="0">
                <a:solidFill>
                  <a:srgbClr val="16202E"/>
                </a:solidFill>
                <a:latin typeface="Arial" pitchFamily="34" charset="0"/>
                <a:ea typeface="Arial" pitchFamily="34" charset="-122"/>
                <a:cs typeface="Arial" pitchFamily="34" charset="-120"/>
              </a:rPr>
              <a:t>Tests: </a:t>
            </a:r>
            <a:pPr indent="0" marL="0">
              <a:buNone/>
            </a:pPr>
            <a:r>
              <a:rPr lang="en-US" sz="1000" dirty="0">
                <a:solidFill>
                  <a:srgbClr val="16202E"/>
                </a:solidFill>
                <a:latin typeface="Arial" pitchFamily="34" charset="0"/>
                <a:ea typeface="Arial" pitchFamily="34" charset="-122"/>
                <a:cs typeface="Arial" pitchFamily="34" charset="-120"/>
              </a:rPr>
              <a:t>pytest, Hypothesis fuzzing, Playwright browser checks</a:t>
            </a:r>
            <a:endParaRPr lang="en-US" sz="1000" dirty="0"/>
          </a:p>
          <a:p>
            <a:pPr marL="177800" indent="-177800">
              <a:spcAft>
                <a:spcPts val="300"/>
              </a:spcAft>
              <a:buSzPct val="100000"/>
              <a:buChar char="•"/>
            </a:pPr>
            <a:r>
              <a:rPr lang="en-US" sz="1000" b="1" dirty="0">
                <a:solidFill>
                  <a:srgbClr val="16202E"/>
                </a:solidFill>
                <a:latin typeface="Arial" pitchFamily="34" charset="0"/>
                <a:ea typeface="Arial" pitchFamily="34" charset="-122"/>
                <a:cs typeface="Arial" pitchFamily="34" charset="-120"/>
              </a:rPr>
              <a:t>Real mail lab: </a:t>
            </a:r>
            <a:pPr indent="0" marL="0">
              <a:buNone/>
            </a:pPr>
            <a:r>
              <a:rPr lang="en-US" sz="1000" dirty="0">
                <a:solidFill>
                  <a:srgbClr val="16202E"/>
                </a:solidFill>
                <a:latin typeface="Arial" pitchFamily="34" charset="0"/>
                <a:ea typeface="Arial" pitchFamily="34" charset="-122"/>
                <a:cs typeface="Arial" pitchFamily="34" charset="-120"/>
              </a:rPr>
              <a:t>Mailpit, aiosmtpd, pymap (IMAP) servers</a:t>
            </a:r>
            <a:endParaRPr lang="en-US" sz="1000" dirty="0"/>
          </a:p>
          <a:p>
            <a:pPr marL="177800" indent="-177800">
              <a:spcAft>
                <a:spcPts val="300"/>
              </a:spcAft>
              <a:buSzPct val="100000"/>
              <a:buChar char="•"/>
            </a:pPr>
            <a:r>
              <a:rPr lang="en-US" sz="1000" b="1" dirty="0">
                <a:solidFill>
                  <a:srgbClr val="16202E"/>
                </a:solidFill>
                <a:latin typeface="Arial" pitchFamily="34" charset="0"/>
                <a:ea typeface="Arial" pitchFamily="34" charset="-122"/>
                <a:cs typeface="Arial" pitchFamily="34" charset="-120"/>
              </a:rPr>
              <a:t>Public captures: </a:t>
            </a:r>
            <a:pPr indent="0" marL="0">
              <a:buNone/>
            </a:pPr>
            <a:r>
              <a:rPr lang="en-US" sz="1000" dirty="0">
                <a:solidFill>
                  <a:srgbClr val="16202E"/>
                </a:solidFill>
                <a:latin typeface="Arial" pitchFamily="34" charset="0"/>
                <a:ea typeface="Arial" pitchFamily="34" charset="-122"/>
                <a:cs typeface="Arial" pitchFamily="34" charset="-120"/>
              </a:rPr>
              <a:t>Wireshark wiki (Dovecot IMAP/POP3, SMTP)</a:t>
            </a:r>
            <a:endParaRPr lang="en-US" sz="100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148840" y="164592"/>
            <a:ext cx="7818120" cy="713232"/>
          </a:xfrm>
          <a:prstGeom prst="rect">
            <a:avLst/>
          </a:prstGeom>
          <a:noFill/>
          <a:ln/>
        </p:spPr>
        <p:txBody>
          <a:bodyPr wrap="square" lIns="0" tIns="0" rIns="0" bIns="0" rtlCol="0" anchor="ctr"/>
          <a:lstStyle/>
          <a:p>
            <a:pPr algn="ctr" indent="0" marL="0">
              <a:buNone/>
            </a:pPr>
            <a:r>
              <a:rPr lang="en-US" sz="3200" b="1" dirty="0">
                <a:solidFill>
                  <a:srgbClr val="16202E"/>
                </a:solidFill>
                <a:latin typeface="Times New Roman" pitchFamily="34" charset="0"/>
                <a:ea typeface="Times New Roman" pitchFamily="34" charset="-122"/>
                <a:cs typeface="Times New Roman" pitchFamily="34" charset="-120"/>
              </a:rPr>
              <a:t>FEASIBILITY AND VIABILITY</a:t>
            </a:r>
            <a:endParaRPr lang="en-US" sz="3200" dirty="0"/>
          </a:p>
        </p:txBody>
      </p:sp>
      <p:sp>
        <p:nvSpPr>
          <p:cNvPr id="3" name="Text 1"/>
          <p:cNvSpPr txBox="1"/>
          <p:nvPr/>
        </p:nvSpPr>
        <p:spPr>
          <a:xfrm>
            <a:off x="320040" y="960120"/>
            <a:ext cx="11521440" cy="310896"/>
          </a:xfrm>
          <a:prstGeom prst="rect">
            <a:avLst/>
          </a:prstGeom>
          <a:noFill/>
          <a:ln/>
        </p:spPr>
        <p:txBody>
          <a:bodyPr wrap="square" lIns="0" tIns="0" rIns="0" bIns="0" rtlCol="0" anchor="ctr"/>
          <a:lstStyle/>
          <a:p>
            <a:pPr indent="0" marL="0">
              <a:buNone/>
            </a:pPr>
            <a:r>
              <a:rPr lang="en-US" sz="1500" b="1" dirty="0">
                <a:solidFill>
                  <a:srgbClr val="13233F"/>
                </a:solidFill>
                <a:latin typeface="Arial" pitchFamily="34" charset="0"/>
                <a:ea typeface="Arial" pitchFamily="34" charset="-122"/>
                <a:cs typeface="Arial" pitchFamily="34" charset="-120"/>
              </a:rPr>
              <a:t>Technical Feasibility: built and verified</a:t>
            </a:r>
            <a:endParaRPr lang="en-US" sz="1500" dirty="0"/>
          </a:p>
        </p:txBody>
      </p:sp>
      <p:sp>
        <p:nvSpPr>
          <p:cNvPr id="4" name="Shape 2"/>
          <p:cNvSpPr/>
          <p:nvPr/>
        </p:nvSpPr>
        <p:spPr>
          <a:xfrm>
            <a:off x="320040" y="1325880"/>
            <a:ext cx="2743200" cy="1188720"/>
          </a:xfrm>
          <a:prstGeom prst="roundRect">
            <a:avLst>
              <a:gd name="adj" fmla="val 6154"/>
            </a:avLst>
          </a:prstGeom>
          <a:solidFill>
            <a:srgbClr val="F4F6F9"/>
          </a:solidFill>
          <a:ln w="12700">
            <a:solidFill>
              <a:srgbClr val="C9D2DE"/>
            </a:solidFill>
            <a:prstDash val="solid"/>
          </a:ln>
        </p:spPr>
      </p:sp>
      <p:sp>
        <p:nvSpPr>
          <p:cNvPr id="5" name="Text 3"/>
          <p:cNvSpPr txBox="1"/>
          <p:nvPr/>
        </p:nvSpPr>
        <p:spPr>
          <a:xfrm>
            <a:off x="320040" y="1371600"/>
            <a:ext cx="2743200" cy="566928"/>
          </a:xfrm>
          <a:prstGeom prst="rect">
            <a:avLst/>
          </a:prstGeom>
          <a:noFill/>
          <a:ln/>
        </p:spPr>
        <p:txBody>
          <a:bodyPr wrap="square" lIns="0" tIns="0" rIns="0" bIns="0" rtlCol="0" anchor="ctr"/>
          <a:lstStyle/>
          <a:p>
            <a:pPr algn="ctr" indent="0" marL="0">
              <a:buNone/>
            </a:pPr>
            <a:r>
              <a:rPr lang="en-US" sz="3000" b="1" dirty="0">
                <a:solidFill>
                  <a:srgbClr val="13233F"/>
                </a:solidFill>
                <a:latin typeface="Arial" pitchFamily="34" charset="0"/>
                <a:ea typeface="Arial" pitchFamily="34" charset="-122"/>
                <a:cs typeface="Arial" pitchFamily="34" charset="-120"/>
              </a:rPr>
              <a:t>414</a:t>
            </a:r>
            <a:endParaRPr lang="en-US" sz="3000" dirty="0"/>
          </a:p>
        </p:txBody>
      </p:sp>
      <p:sp>
        <p:nvSpPr>
          <p:cNvPr id="6" name="Text 4"/>
          <p:cNvSpPr txBox="1"/>
          <p:nvPr/>
        </p:nvSpPr>
        <p:spPr>
          <a:xfrm>
            <a:off x="411480" y="1920240"/>
            <a:ext cx="2560320" cy="548640"/>
          </a:xfrm>
          <a:prstGeom prst="rect">
            <a:avLst/>
          </a:prstGeom>
          <a:noFill/>
          <a:ln/>
        </p:spPr>
        <p:txBody>
          <a:bodyPr wrap="square" lIns="0" tIns="0" rIns="0" bIns="0" rtlCol="0" anchor="t"/>
          <a:lstStyle/>
          <a:p>
            <a:pPr algn="ctr" indent="0" marL="0">
              <a:buNone/>
            </a:pPr>
            <a:r>
              <a:rPr lang="en-US" sz="1050" dirty="0">
                <a:solidFill>
                  <a:srgbClr val="465468"/>
                </a:solidFill>
                <a:latin typeface="Arial" pitchFamily="34" charset="0"/>
                <a:ea typeface="Arial" pitchFamily="34" charset="-122"/>
                <a:cs typeface="Arial" pitchFamily="34" charset="-120"/>
              </a:rPr>
              <a:t>automated tests passing</a:t>
            </a:r>
            <a:endParaRPr lang="en-US" sz="1050" dirty="0"/>
          </a:p>
          <a:p>
            <a:pPr algn="ctr" indent="0" marL="0">
              <a:buNone/>
            </a:pPr>
            <a:r>
              <a:rPr lang="en-US" sz="1050" dirty="0">
                <a:solidFill>
                  <a:srgbClr val="465468"/>
                </a:solidFill>
                <a:latin typeface="Arial" pitchFamily="34" charset="0"/>
                <a:ea typeface="Arial" pitchFamily="34" charset="-122"/>
                <a:cs typeface="Arial" pitchFamily="34" charset="-120"/>
              </a:rPr>
              <a:t>(unit, fuzz, API, reports)</a:t>
            </a:r>
            <a:endParaRPr lang="en-US" sz="1050" dirty="0"/>
          </a:p>
        </p:txBody>
      </p:sp>
      <p:sp>
        <p:nvSpPr>
          <p:cNvPr id="7" name="Shape 5"/>
          <p:cNvSpPr/>
          <p:nvPr/>
        </p:nvSpPr>
        <p:spPr>
          <a:xfrm>
            <a:off x="3227832" y="1325880"/>
            <a:ext cx="2743200" cy="1188720"/>
          </a:xfrm>
          <a:prstGeom prst="roundRect">
            <a:avLst>
              <a:gd name="adj" fmla="val 6154"/>
            </a:avLst>
          </a:prstGeom>
          <a:solidFill>
            <a:srgbClr val="EAF1FB"/>
          </a:solidFill>
          <a:ln w="12700">
            <a:solidFill>
              <a:srgbClr val="C9D2DE"/>
            </a:solidFill>
            <a:prstDash val="solid"/>
          </a:ln>
        </p:spPr>
      </p:sp>
      <p:sp>
        <p:nvSpPr>
          <p:cNvPr id="8" name="Text 6"/>
          <p:cNvSpPr txBox="1"/>
          <p:nvPr/>
        </p:nvSpPr>
        <p:spPr>
          <a:xfrm>
            <a:off x="3227832" y="1371600"/>
            <a:ext cx="2743200" cy="566928"/>
          </a:xfrm>
          <a:prstGeom prst="rect">
            <a:avLst/>
          </a:prstGeom>
          <a:noFill/>
          <a:ln/>
        </p:spPr>
        <p:txBody>
          <a:bodyPr wrap="square" lIns="0" tIns="0" rIns="0" bIns="0" rtlCol="0" anchor="ctr"/>
          <a:lstStyle/>
          <a:p>
            <a:pPr algn="ctr" indent="0" marL="0">
              <a:buNone/>
            </a:pPr>
            <a:r>
              <a:rPr lang="en-US" sz="3000" b="1" dirty="0">
                <a:solidFill>
                  <a:srgbClr val="1F5AA6"/>
                </a:solidFill>
                <a:latin typeface="Arial" pitchFamily="34" charset="0"/>
                <a:ea typeface="Arial" pitchFamily="34" charset="-122"/>
                <a:cs typeface="Arial" pitchFamily="34" charset="-120"/>
              </a:rPr>
              <a:t>15 + 5</a:t>
            </a:r>
            <a:endParaRPr lang="en-US" sz="3000" dirty="0"/>
          </a:p>
        </p:txBody>
      </p:sp>
      <p:sp>
        <p:nvSpPr>
          <p:cNvPr id="9" name="Text 7"/>
          <p:cNvSpPr txBox="1"/>
          <p:nvPr/>
        </p:nvSpPr>
        <p:spPr>
          <a:xfrm>
            <a:off x="3319272" y="1920240"/>
            <a:ext cx="2560320" cy="548640"/>
          </a:xfrm>
          <a:prstGeom prst="rect">
            <a:avLst/>
          </a:prstGeom>
          <a:noFill/>
          <a:ln/>
        </p:spPr>
        <p:txBody>
          <a:bodyPr wrap="square" lIns="0" tIns="0" rIns="0" bIns="0" rtlCol="0" anchor="t"/>
          <a:lstStyle/>
          <a:p>
            <a:pPr algn="ctr" indent="0" marL="0">
              <a:buNone/>
            </a:pPr>
            <a:r>
              <a:rPr lang="en-US" sz="1050" dirty="0">
                <a:solidFill>
                  <a:srgbClr val="465468"/>
                </a:solidFill>
                <a:latin typeface="Arial" pitchFamily="34" charset="0"/>
                <a:ea typeface="Arial" pitchFamily="34" charset="-122"/>
                <a:cs typeface="Arial" pitchFamily="34" charset="-120"/>
              </a:rPr>
              <a:t>real lab captures (SMTP, IMAP, POP3)</a:t>
            </a:r>
            <a:endParaRPr lang="en-US" sz="1050" dirty="0"/>
          </a:p>
          <a:p>
            <a:pPr algn="ctr" indent="0" marL="0">
              <a:buNone/>
            </a:pPr>
            <a:r>
              <a:rPr lang="en-US" sz="1050" dirty="0">
                <a:solidFill>
                  <a:srgbClr val="465468"/>
                </a:solidFill>
                <a:latin typeface="Arial" pitchFamily="34" charset="0"/>
                <a:ea typeface="Arial" pitchFamily="34" charset="-122"/>
                <a:cs typeface="Arial" pitchFamily="34" charset="-120"/>
              </a:rPr>
              <a:t>+ public Wireshark captures</a:t>
            </a:r>
            <a:endParaRPr lang="en-US" sz="1050" dirty="0"/>
          </a:p>
        </p:txBody>
      </p:sp>
      <p:sp>
        <p:nvSpPr>
          <p:cNvPr id="10" name="Shape 8"/>
          <p:cNvSpPr/>
          <p:nvPr/>
        </p:nvSpPr>
        <p:spPr>
          <a:xfrm>
            <a:off x="6135624" y="1325880"/>
            <a:ext cx="2743200" cy="1188720"/>
          </a:xfrm>
          <a:prstGeom prst="roundRect">
            <a:avLst>
              <a:gd name="adj" fmla="val 6154"/>
            </a:avLst>
          </a:prstGeom>
          <a:solidFill>
            <a:srgbClr val="F4F6F9"/>
          </a:solidFill>
          <a:ln w="12700">
            <a:solidFill>
              <a:srgbClr val="C9D2DE"/>
            </a:solidFill>
            <a:prstDash val="solid"/>
          </a:ln>
        </p:spPr>
      </p:sp>
      <p:sp>
        <p:nvSpPr>
          <p:cNvPr id="11" name="Text 9"/>
          <p:cNvSpPr txBox="1"/>
          <p:nvPr/>
        </p:nvSpPr>
        <p:spPr>
          <a:xfrm>
            <a:off x="6135624" y="1371600"/>
            <a:ext cx="2743200" cy="566928"/>
          </a:xfrm>
          <a:prstGeom prst="rect">
            <a:avLst/>
          </a:prstGeom>
          <a:noFill/>
          <a:ln/>
        </p:spPr>
        <p:txBody>
          <a:bodyPr wrap="square" lIns="0" tIns="0" rIns="0" bIns="0" rtlCol="0" anchor="ctr"/>
          <a:lstStyle/>
          <a:p>
            <a:pPr algn="ctr" indent="0" marL="0">
              <a:buNone/>
            </a:pPr>
            <a:r>
              <a:rPr lang="en-US" sz="3000" b="1" dirty="0">
                <a:solidFill>
                  <a:srgbClr val="13233F"/>
                </a:solidFill>
                <a:latin typeface="Arial" pitchFamily="34" charset="0"/>
                <a:ea typeface="Arial" pitchFamily="34" charset="-122"/>
                <a:cs typeface="Arial" pitchFamily="34" charset="-120"/>
              </a:rPr>
              <a:t>1,000,000</a:t>
            </a:r>
            <a:endParaRPr lang="en-US" sz="3000" dirty="0"/>
          </a:p>
        </p:txBody>
      </p:sp>
      <p:sp>
        <p:nvSpPr>
          <p:cNvPr id="12" name="Text 10"/>
          <p:cNvSpPr txBox="1"/>
          <p:nvPr/>
        </p:nvSpPr>
        <p:spPr>
          <a:xfrm>
            <a:off x="6227064" y="1920240"/>
            <a:ext cx="2560320" cy="548640"/>
          </a:xfrm>
          <a:prstGeom prst="rect">
            <a:avLst/>
          </a:prstGeom>
          <a:noFill/>
          <a:ln/>
        </p:spPr>
        <p:txBody>
          <a:bodyPr wrap="square" lIns="0" tIns="0" rIns="0" bIns="0" rtlCol="0" anchor="t"/>
          <a:lstStyle/>
          <a:p>
            <a:pPr algn="ctr" indent="0" marL="0">
              <a:buNone/>
            </a:pPr>
            <a:r>
              <a:rPr lang="en-US" sz="1050" dirty="0">
                <a:solidFill>
                  <a:srgbClr val="465468"/>
                </a:solidFill>
                <a:latin typeface="Arial" pitchFamily="34" charset="0"/>
                <a:ea typeface="Arial" pitchFamily="34" charset="-122"/>
                <a:cs typeface="Arial" pitchFamily="34" charset="-120"/>
              </a:rPr>
              <a:t>packets (198.7 MB) analysed</a:t>
            </a:r>
            <a:endParaRPr lang="en-US" sz="1050" dirty="0"/>
          </a:p>
          <a:p>
            <a:pPr algn="ctr" indent="0" marL="0">
              <a:buNone/>
            </a:pPr>
            <a:r>
              <a:rPr lang="en-US" sz="1050" dirty="0">
                <a:solidFill>
                  <a:srgbClr val="465468"/>
                </a:solidFill>
                <a:latin typeface="Arial" pitchFamily="34" charset="0"/>
                <a:ea typeface="Arial" pitchFamily="34" charset="-122"/>
                <a:cs typeface="Arial" pitchFamily="34" charset="-120"/>
              </a:rPr>
              <a:t>end-to-end in about 4 minutes</a:t>
            </a:r>
            <a:endParaRPr lang="en-US" sz="1050" dirty="0"/>
          </a:p>
        </p:txBody>
      </p:sp>
      <p:sp>
        <p:nvSpPr>
          <p:cNvPr id="13" name="Shape 11"/>
          <p:cNvSpPr/>
          <p:nvPr/>
        </p:nvSpPr>
        <p:spPr>
          <a:xfrm>
            <a:off x="9043416" y="1325880"/>
            <a:ext cx="2743200" cy="1188720"/>
          </a:xfrm>
          <a:prstGeom prst="roundRect">
            <a:avLst>
              <a:gd name="adj" fmla="val 6154"/>
            </a:avLst>
          </a:prstGeom>
          <a:solidFill>
            <a:srgbClr val="EAF1FB"/>
          </a:solidFill>
          <a:ln w="12700">
            <a:solidFill>
              <a:srgbClr val="C9D2DE"/>
            </a:solidFill>
            <a:prstDash val="solid"/>
          </a:ln>
        </p:spPr>
      </p:sp>
      <p:sp>
        <p:nvSpPr>
          <p:cNvPr id="14" name="Text 12"/>
          <p:cNvSpPr txBox="1"/>
          <p:nvPr/>
        </p:nvSpPr>
        <p:spPr>
          <a:xfrm>
            <a:off x="9043416" y="1371600"/>
            <a:ext cx="2743200" cy="566928"/>
          </a:xfrm>
          <a:prstGeom prst="rect">
            <a:avLst/>
          </a:prstGeom>
          <a:noFill/>
          <a:ln/>
        </p:spPr>
        <p:txBody>
          <a:bodyPr wrap="square" lIns="0" tIns="0" rIns="0" bIns="0" rtlCol="0" anchor="ctr"/>
          <a:lstStyle/>
          <a:p>
            <a:pPr algn="ctr" indent="0" marL="0">
              <a:buNone/>
            </a:pPr>
            <a:r>
              <a:rPr lang="en-US" sz="3000" b="1" dirty="0">
                <a:solidFill>
                  <a:srgbClr val="1F5AA6"/>
                </a:solidFill>
                <a:latin typeface="Arial" pitchFamily="34" charset="0"/>
                <a:ea typeface="Arial" pitchFamily="34" charset="-122"/>
                <a:cs typeface="Arial" pitchFamily="34" charset="-120"/>
              </a:rPr>
              <a:t>112 / 112</a:t>
            </a:r>
            <a:endParaRPr lang="en-US" sz="3000" dirty="0"/>
          </a:p>
        </p:txBody>
      </p:sp>
      <p:sp>
        <p:nvSpPr>
          <p:cNvPr id="15" name="Text 13"/>
          <p:cNvSpPr txBox="1"/>
          <p:nvPr/>
        </p:nvSpPr>
        <p:spPr>
          <a:xfrm>
            <a:off x="9134856" y="1920240"/>
            <a:ext cx="2560320" cy="548640"/>
          </a:xfrm>
          <a:prstGeom prst="rect">
            <a:avLst/>
          </a:prstGeom>
          <a:noFill/>
          <a:ln/>
        </p:spPr>
        <p:txBody>
          <a:bodyPr wrap="square" lIns="0" tIns="0" rIns="0" bIns="0" rtlCol="0" anchor="t"/>
          <a:lstStyle/>
          <a:p>
            <a:pPr algn="ctr" indent="0" marL="0">
              <a:buNone/>
            </a:pPr>
            <a:r>
              <a:rPr lang="en-US" sz="1050" dirty="0">
                <a:solidFill>
                  <a:srgbClr val="465468"/>
                </a:solidFill>
                <a:latin typeface="Arial" pitchFamily="34" charset="0"/>
                <a:ea typeface="Arial" pitchFamily="34" charset="-122"/>
                <a:cs typeface="Arial" pitchFamily="34" charset="-120"/>
              </a:rPr>
              <a:t>browser checks on every control;</a:t>
            </a:r>
            <a:endParaRPr lang="en-US" sz="1050" dirty="0"/>
          </a:p>
          <a:p>
            <a:pPr algn="ctr" indent="0" marL="0">
              <a:buNone/>
            </a:pPr>
            <a:r>
              <a:rPr lang="en-US" sz="1050" dirty="0">
                <a:solidFill>
                  <a:srgbClr val="465468"/>
                </a:solidFill>
                <a:latin typeface="Arial" pitchFamily="34" charset="0"/>
                <a:ea typeface="Arial" pitchFamily="34" charset="-122"/>
                <a:cs typeface="Arial" pitchFamily="34" charset="-120"/>
              </a:rPr>
              <a:t>0 accessibility violations</a:t>
            </a:r>
            <a:endParaRPr lang="en-US" sz="1050" dirty="0"/>
          </a:p>
        </p:txBody>
      </p:sp>
      <p:sp>
        <p:nvSpPr>
          <p:cNvPr id="16" name="Text 14"/>
          <p:cNvSpPr txBox="1"/>
          <p:nvPr/>
        </p:nvSpPr>
        <p:spPr>
          <a:xfrm>
            <a:off x="320040" y="2697480"/>
            <a:ext cx="5120640" cy="310896"/>
          </a:xfrm>
          <a:prstGeom prst="rect">
            <a:avLst/>
          </a:prstGeom>
          <a:noFill/>
          <a:ln/>
        </p:spPr>
        <p:txBody>
          <a:bodyPr wrap="square" lIns="0" tIns="0" rIns="0" bIns="0" rtlCol="0" anchor="ctr"/>
          <a:lstStyle/>
          <a:p>
            <a:pPr indent="0" marL="0">
              <a:buNone/>
            </a:pPr>
            <a:r>
              <a:rPr lang="en-US" sz="1400" b="1" dirty="0">
                <a:solidFill>
                  <a:srgbClr val="B42318"/>
                </a:solidFill>
                <a:latin typeface="Arial" pitchFamily="34" charset="0"/>
                <a:ea typeface="Arial" pitchFamily="34" charset="-122"/>
                <a:cs typeface="Arial" pitchFamily="34" charset="-120"/>
              </a:rPr>
              <a:t>Potential Challenges and Risks</a:t>
            </a:r>
            <a:endParaRPr lang="en-US" sz="1400" dirty="0"/>
          </a:p>
        </p:txBody>
      </p:sp>
      <p:sp>
        <p:nvSpPr>
          <p:cNvPr id="17" name="Text 15"/>
          <p:cNvSpPr txBox="1"/>
          <p:nvPr/>
        </p:nvSpPr>
        <p:spPr>
          <a:xfrm>
            <a:off x="6172200" y="2697480"/>
            <a:ext cx="5669280" cy="310896"/>
          </a:xfrm>
          <a:prstGeom prst="rect">
            <a:avLst/>
          </a:prstGeom>
          <a:noFill/>
          <a:ln/>
        </p:spPr>
        <p:txBody>
          <a:bodyPr wrap="square" lIns="0" tIns="0" rIns="0" bIns="0" rtlCol="0" anchor="ctr"/>
          <a:lstStyle/>
          <a:p>
            <a:pPr indent="0" marL="0">
              <a:buNone/>
            </a:pPr>
            <a:r>
              <a:rPr lang="en-US" sz="1400" b="1" dirty="0">
                <a:solidFill>
                  <a:srgbClr val="1E7F3E"/>
                </a:solidFill>
                <a:latin typeface="Arial" pitchFamily="34" charset="0"/>
                <a:ea typeface="Arial" pitchFamily="34" charset="-122"/>
                <a:cs typeface="Arial" pitchFamily="34" charset="-120"/>
              </a:rPr>
              <a:t>Strategies for Overcoming These Challenges</a:t>
            </a:r>
            <a:endParaRPr lang="en-US" sz="1400" dirty="0"/>
          </a:p>
        </p:txBody>
      </p:sp>
      <p:sp>
        <p:nvSpPr>
          <p:cNvPr id="18" name="Shape 16"/>
          <p:cNvSpPr/>
          <p:nvPr/>
        </p:nvSpPr>
        <p:spPr>
          <a:xfrm>
            <a:off x="320040" y="3044952"/>
            <a:ext cx="5257800" cy="429768"/>
          </a:xfrm>
          <a:prstGeom prst="rect">
            <a:avLst/>
          </a:prstGeom>
          <a:solidFill>
            <a:srgbClr val="FBEDEB"/>
          </a:solidFill>
          <a:ln w="12700">
            <a:solidFill>
              <a:srgbClr val="F0C9C3"/>
            </a:solidFill>
            <a:prstDash val="solid"/>
          </a:ln>
        </p:spPr>
      </p:sp>
      <p:sp>
        <p:nvSpPr>
          <p:cNvPr id="19" name="Shape 17"/>
          <p:cNvSpPr/>
          <p:nvPr/>
        </p:nvSpPr>
        <p:spPr>
          <a:xfrm>
            <a:off x="384048" y="3090672"/>
            <a:ext cx="338328" cy="338328"/>
          </a:xfrm>
          <a:prstGeom prst="ellipse">
            <a:avLst/>
          </a:prstGeom>
          <a:solidFill>
            <a:srgbClr val="B42318"/>
          </a:solidFill>
          <a:ln w="12700">
            <a:solidFill>
              <a:srgbClr val="B42318"/>
            </a:solidFill>
            <a:prstDash val="solid"/>
          </a:ln>
        </p:spPr>
      </p:sp>
      <p:pic>
        <p:nvPicPr>
          <p:cNvPr id="20" name="Image 0" descr="preencoded.png">    </p:cNvPr>
          <p:cNvPicPr>
            <a:picLocks noChangeAspect="1"/>
          </p:cNvPicPr>
          <p:nvPr/>
        </p:nvPicPr>
        <p:blipFill>
          <a:blip r:embed="rId1"/>
          <a:stretch>
            <a:fillRect/>
          </a:stretch>
        </p:blipFill>
        <p:spPr>
          <a:xfrm>
            <a:off x="465247" y="3171871"/>
            <a:ext cx="175931" cy="175931"/>
          </a:xfrm>
          <a:prstGeom prst="rect">
            <a:avLst/>
          </a:prstGeom>
        </p:spPr>
      </p:pic>
      <p:sp>
        <p:nvSpPr>
          <p:cNvPr id="21" name="Text 18"/>
          <p:cNvSpPr txBox="1"/>
          <p:nvPr/>
        </p:nvSpPr>
        <p:spPr>
          <a:xfrm>
            <a:off x="804672" y="3044952"/>
            <a:ext cx="4709160" cy="429768"/>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TLS 1.3 encrypts server certificates</a:t>
            </a:r>
            <a:endParaRPr lang="en-US" sz="1150" dirty="0"/>
          </a:p>
        </p:txBody>
      </p:sp>
      <p:sp>
        <p:nvSpPr>
          <p:cNvPr id="22" name="Shape 19"/>
          <p:cNvSpPr/>
          <p:nvPr/>
        </p:nvSpPr>
        <p:spPr>
          <a:xfrm>
            <a:off x="5650992" y="3136392"/>
            <a:ext cx="438912" cy="246888"/>
          </a:xfrm>
          <a:prstGeom prst="rightArrow">
            <a:avLst/>
          </a:prstGeom>
          <a:solidFill>
            <a:srgbClr val="68768A"/>
          </a:solidFill>
          <a:ln w="12700">
            <a:solidFill>
              <a:srgbClr val="68768A"/>
            </a:solidFill>
            <a:prstDash val="solid"/>
          </a:ln>
        </p:spPr>
      </p:sp>
      <p:sp>
        <p:nvSpPr>
          <p:cNvPr id="23" name="Shape 20"/>
          <p:cNvSpPr/>
          <p:nvPr/>
        </p:nvSpPr>
        <p:spPr>
          <a:xfrm>
            <a:off x="6172200" y="3044952"/>
            <a:ext cx="5715000" cy="429768"/>
          </a:xfrm>
          <a:prstGeom prst="rect">
            <a:avLst/>
          </a:prstGeom>
          <a:solidFill>
            <a:srgbClr val="EAF5EE"/>
          </a:solidFill>
          <a:ln w="12700">
            <a:solidFill>
              <a:srgbClr val="C4E3CE"/>
            </a:solidFill>
            <a:prstDash val="solid"/>
          </a:ln>
        </p:spPr>
      </p:sp>
      <p:sp>
        <p:nvSpPr>
          <p:cNvPr id="24" name="Shape 21"/>
          <p:cNvSpPr/>
          <p:nvPr/>
        </p:nvSpPr>
        <p:spPr>
          <a:xfrm>
            <a:off x="6236208" y="3090672"/>
            <a:ext cx="338328" cy="338328"/>
          </a:xfrm>
          <a:prstGeom prst="ellipse">
            <a:avLst/>
          </a:prstGeom>
          <a:solidFill>
            <a:srgbClr val="1E7F3E"/>
          </a:solidFill>
          <a:ln w="12700">
            <a:solidFill>
              <a:srgbClr val="1E7F3E"/>
            </a:solidFill>
            <a:prstDash val="solid"/>
          </a:ln>
        </p:spPr>
      </p:sp>
      <p:pic>
        <p:nvPicPr>
          <p:cNvPr id="25" name="Image 1" descr="preencoded.png">    </p:cNvPr>
          <p:cNvPicPr>
            <a:picLocks noChangeAspect="1"/>
          </p:cNvPicPr>
          <p:nvPr/>
        </p:nvPicPr>
        <p:blipFill>
          <a:blip r:embed="rId2"/>
          <a:stretch>
            <a:fillRect/>
          </a:stretch>
        </p:blipFill>
        <p:spPr>
          <a:xfrm>
            <a:off x="6317407" y="3171871"/>
            <a:ext cx="175931" cy="175931"/>
          </a:xfrm>
          <a:prstGeom prst="rect">
            <a:avLst/>
          </a:prstGeom>
        </p:spPr>
      </p:pic>
      <p:sp>
        <p:nvSpPr>
          <p:cNvPr id="26" name="Text 22"/>
          <p:cNvSpPr txBox="1"/>
          <p:nvPr/>
        </p:nvSpPr>
        <p:spPr>
          <a:xfrm>
            <a:off x="6656832" y="3044952"/>
            <a:ext cx="5166360" cy="429768"/>
          </a:xfrm>
          <a:prstGeom prst="rect">
            <a:avLst/>
          </a:prstGeom>
          <a:noFill/>
          <a:ln/>
        </p:spPr>
        <p:txBody>
          <a:bodyPr wrap="square" lIns="0" tIns="0" rIns="0" bIns="0" rtlCol="0" anchor="ctr"/>
          <a:lstStyle/>
          <a:p>
            <a:pPr indent="0" marL="0">
              <a:buNone/>
            </a:pPr>
            <a:r>
              <a:rPr lang="en-US" sz="1050" dirty="0">
                <a:solidFill>
                  <a:srgbClr val="16202E"/>
                </a:solidFill>
                <a:latin typeface="Arial" pitchFamily="34" charset="0"/>
                <a:ea typeface="Arial" pitchFamily="34" charset="-122"/>
                <a:cs typeface="Arial" pitchFamily="34" charset="-120"/>
              </a:rPr>
              <a:t>Report them as NOT OBSERVABLE; analyse TLS 1.2 and earlier certificates; never guess.</a:t>
            </a:r>
            <a:endParaRPr lang="en-US" sz="1050" dirty="0"/>
          </a:p>
        </p:txBody>
      </p:sp>
      <p:sp>
        <p:nvSpPr>
          <p:cNvPr id="27" name="Shape 23"/>
          <p:cNvSpPr/>
          <p:nvPr/>
        </p:nvSpPr>
        <p:spPr>
          <a:xfrm>
            <a:off x="320040" y="3557016"/>
            <a:ext cx="5257800" cy="429768"/>
          </a:xfrm>
          <a:prstGeom prst="rect">
            <a:avLst/>
          </a:prstGeom>
          <a:solidFill>
            <a:srgbClr val="FBEDEB"/>
          </a:solidFill>
          <a:ln w="12700">
            <a:solidFill>
              <a:srgbClr val="F0C9C3"/>
            </a:solidFill>
            <a:prstDash val="solid"/>
          </a:ln>
        </p:spPr>
      </p:sp>
      <p:sp>
        <p:nvSpPr>
          <p:cNvPr id="28" name="Shape 24"/>
          <p:cNvSpPr/>
          <p:nvPr/>
        </p:nvSpPr>
        <p:spPr>
          <a:xfrm>
            <a:off x="384048" y="3602736"/>
            <a:ext cx="338328" cy="338328"/>
          </a:xfrm>
          <a:prstGeom prst="ellipse">
            <a:avLst/>
          </a:prstGeom>
          <a:solidFill>
            <a:srgbClr val="B42318"/>
          </a:solidFill>
          <a:ln w="12700">
            <a:solidFill>
              <a:srgbClr val="B42318"/>
            </a:solidFill>
            <a:prstDash val="solid"/>
          </a:ln>
        </p:spPr>
      </p:sp>
      <p:pic>
        <p:nvPicPr>
          <p:cNvPr id="29" name="Image 2" descr="preencoded.png">    </p:cNvPr>
          <p:cNvPicPr>
            <a:picLocks noChangeAspect="1"/>
          </p:cNvPicPr>
          <p:nvPr/>
        </p:nvPicPr>
        <p:blipFill>
          <a:blip r:embed="rId3"/>
          <a:stretch>
            <a:fillRect/>
          </a:stretch>
        </p:blipFill>
        <p:spPr>
          <a:xfrm>
            <a:off x="465247" y="3683935"/>
            <a:ext cx="175931" cy="175931"/>
          </a:xfrm>
          <a:prstGeom prst="rect">
            <a:avLst/>
          </a:prstGeom>
        </p:spPr>
      </p:pic>
      <p:sp>
        <p:nvSpPr>
          <p:cNvPr id="30" name="Text 25"/>
          <p:cNvSpPr txBox="1"/>
          <p:nvPr/>
        </p:nvSpPr>
        <p:spPr>
          <a:xfrm>
            <a:off x="804672" y="3557016"/>
            <a:ext cx="4709160" cy="429768"/>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Hostile or malformed captures</a:t>
            </a:r>
            <a:endParaRPr lang="en-US" sz="1150" dirty="0"/>
          </a:p>
        </p:txBody>
      </p:sp>
      <p:sp>
        <p:nvSpPr>
          <p:cNvPr id="31" name="Shape 26"/>
          <p:cNvSpPr/>
          <p:nvPr/>
        </p:nvSpPr>
        <p:spPr>
          <a:xfrm>
            <a:off x="5650992" y="3648456"/>
            <a:ext cx="438912" cy="246888"/>
          </a:xfrm>
          <a:prstGeom prst="rightArrow">
            <a:avLst/>
          </a:prstGeom>
          <a:solidFill>
            <a:srgbClr val="68768A"/>
          </a:solidFill>
          <a:ln w="12700">
            <a:solidFill>
              <a:srgbClr val="68768A"/>
            </a:solidFill>
            <a:prstDash val="solid"/>
          </a:ln>
        </p:spPr>
      </p:sp>
      <p:sp>
        <p:nvSpPr>
          <p:cNvPr id="32" name="Shape 27"/>
          <p:cNvSpPr/>
          <p:nvPr/>
        </p:nvSpPr>
        <p:spPr>
          <a:xfrm>
            <a:off x="6172200" y="3557016"/>
            <a:ext cx="5715000" cy="429768"/>
          </a:xfrm>
          <a:prstGeom prst="rect">
            <a:avLst/>
          </a:prstGeom>
          <a:solidFill>
            <a:srgbClr val="EAF5EE"/>
          </a:solidFill>
          <a:ln w="12700">
            <a:solidFill>
              <a:srgbClr val="C4E3CE"/>
            </a:solidFill>
            <a:prstDash val="solid"/>
          </a:ln>
        </p:spPr>
      </p:sp>
      <p:sp>
        <p:nvSpPr>
          <p:cNvPr id="33" name="Shape 28"/>
          <p:cNvSpPr/>
          <p:nvPr/>
        </p:nvSpPr>
        <p:spPr>
          <a:xfrm>
            <a:off x="6236208" y="3602736"/>
            <a:ext cx="338328" cy="338328"/>
          </a:xfrm>
          <a:prstGeom prst="ellipse">
            <a:avLst/>
          </a:prstGeom>
          <a:solidFill>
            <a:srgbClr val="1E7F3E"/>
          </a:solidFill>
          <a:ln w="12700">
            <a:solidFill>
              <a:srgbClr val="1E7F3E"/>
            </a:solidFill>
            <a:prstDash val="solid"/>
          </a:ln>
        </p:spPr>
      </p:sp>
      <p:pic>
        <p:nvPicPr>
          <p:cNvPr id="34" name="Image 3" descr="preencoded.png">    </p:cNvPr>
          <p:cNvPicPr>
            <a:picLocks noChangeAspect="1"/>
          </p:cNvPicPr>
          <p:nvPr/>
        </p:nvPicPr>
        <p:blipFill>
          <a:blip r:embed="rId4"/>
          <a:stretch>
            <a:fillRect/>
          </a:stretch>
        </p:blipFill>
        <p:spPr>
          <a:xfrm>
            <a:off x="6317407" y="3683935"/>
            <a:ext cx="175931" cy="175931"/>
          </a:xfrm>
          <a:prstGeom prst="rect">
            <a:avLst/>
          </a:prstGeom>
        </p:spPr>
      </p:pic>
      <p:sp>
        <p:nvSpPr>
          <p:cNvPr id="35" name="Text 29"/>
          <p:cNvSpPr txBox="1"/>
          <p:nvPr/>
        </p:nvSpPr>
        <p:spPr>
          <a:xfrm>
            <a:off x="6656832" y="3557016"/>
            <a:ext cx="5166360" cy="429768"/>
          </a:xfrm>
          <a:prstGeom prst="rect">
            <a:avLst/>
          </a:prstGeom>
          <a:noFill/>
          <a:ln/>
        </p:spPr>
        <p:txBody>
          <a:bodyPr wrap="square" lIns="0" tIns="0" rIns="0" bIns="0" rtlCol="0" anchor="ctr"/>
          <a:lstStyle/>
          <a:p>
            <a:pPr indent="0" marL="0">
              <a:buNone/>
            </a:pPr>
            <a:r>
              <a:rPr lang="en-US" sz="1050" dirty="0">
                <a:solidFill>
                  <a:srgbClr val="16202E"/>
                </a:solidFill>
                <a:latin typeface="Arial" pitchFamily="34" charset="0"/>
                <a:ea typeface="Arial" pitchFamily="34" charset="-122"/>
                <a:cs typeface="Arial" pitchFamily="34" charset="-120"/>
              </a:rPr>
              <a:t>Bounded parsers and resource limits; 13 Hypothesis fuzz properties; clean errors, no crashes.</a:t>
            </a:r>
            <a:endParaRPr lang="en-US" sz="1050" dirty="0"/>
          </a:p>
        </p:txBody>
      </p:sp>
      <p:sp>
        <p:nvSpPr>
          <p:cNvPr id="36" name="Shape 30"/>
          <p:cNvSpPr/>
          <p:nvPr/>
        </p:nvSpPr>
        <p:spPr>
          <a:xfrm>
            <a:off x="320040" y="4069080"/>
            <a:ext cx="5257800" cy="429768"/>
          </a:xfrm>
          <a:prstGeom prst="rect">
            <a:avLst/>
          </a:prstGeom>
          <a:solidFill>
            <a:srgbClr val="FBEDEB"/>
          </a:solidFill>
          <a:ln w="12700">
            <a:solidFill>
              <a:srgbClr val="F0C9C3"/>
            </a:solidFill>
            <a:prstDash val="solid"/>
          </a:ln>
        </p:spPr>
      </p:sp>
      <p:sp>
        <p:nvSpPr>
          <p:cNvPr id="37" name="Shape 31"/>
          <p:cNvSpPr/>
          <p:nvPr/>
        </p:nvSpPr>
        <p:spPr>
          <a:xfrm>
            <a:off x="384048" y="4114800"/>
            <a:ext cx="338328" cy="338328"/>
          </a:xfrm>
          <a:prstGeom prst="ellipse">
            <a:avLst/>
          </a:prstGeom>
          <a:solidFill>
            <a:srgbClr val="B42318"/>
          </a:solidFill>
          <a:ln w="12700">
            <a:solidFill>
              <a:srgbClr val="B42318"/>
            </a:solidFill>
            <a:prstDash val="solid"/>
          </a:ln>
        </p:spPr>
      </p:sp>
      <p:pic>
        <p:nvPicPr>
          <p:cNvPr id="38" name="Image 4" descr="preencoded.png">    </p:cNvPr>
          <p:cNvPicPr>
            <a:picLocks noChangeAspect="1"/>
          </p:cNvPicPr>
          <p:nvPr/>
        </p:nvPicPr>
        <p:blipFill>
          <a:blip r:embed="rId5"/>
          <a:stretch>
            <a:fillRect/>
          </a:stretch>
        </p:blipFill>
        <p:spPr>
          <a:xfrm>
            <a:off x="465247" y="4195999"/>
            <a:ext cx="175931" cy="175931"/>
          </a:xfrm>
          <a:prstGeom prst="rect">
            <a:avLst/>
          </a:prstGeom>
        </p:spPr>
      </p:pic>
      <p:sp>
        <p:nvSpPr>
          <p:cNvPr id="39" name="Text 32"/>
          <p:cNvSpPr txBox="1"/>
          <p:nvPr/>
        </p:nvSpPr>
        <p:spPr>
          <a:xfrm>
            <a:off x="804672" y="4069080"/>
            <a:ext cx="4709160" cy="429768"/>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No labelled real-world data for ML</a:t>
            </a:r>
            <a:endParaRPr lang="en-US" sz="1150" dirty="0"/>
          </a:p>
        </p:txBody>
      </p:sp>
      <p:sp>
        <p:nvSpPr>
          <p:cNvPr id="40" name="Shape 33"/>
          <p:cNvSpPr/>
          <p:nvPr/>
        </p:nvSpPr>
        <p:spPr>
          <a:xfrm>
            <a:off x="5650992" y="4160520"/>
            <a:ext cx="438912" cy="246888"/>
          </a:xfrm>
          <a:prstGeom prst="rightArrow">
            <a:avLst/>
          </a:prstGeom>
          <a:solidFill>
            <a:srgbClr val="68768A"/>
          </a:solidFill>
          <a:ln w="12700">
            <a:solidFill>
              <a:srgbClr val="68768A"/>
            </a:solidFill>
            <a:prstDash val="solid"/>
          </a:ln>
        </p:spPr>
      </p:sp>
      <p:sp>
        <p:nvSpPr>
          <p:cNvPr id="41" name="Shape 34"/>
          <p:cNvSpPr/>
          <p:nvPr/>
        </p:nvSpPr>
        <p:spPr>
          <a:xfrm>
            <a:off x="6172200" y="4069080"/>
            <a:ext cx="5715000" cy="429768"/>
          </a:xfrm>
          <a:prstGeom prst="rect">
            <a:avLst/>
          </a:prstGeom>
          <a:solidFill>
            <a:srgbClr val="EAF5EE"/>
          </a:solidFill>
          <a:ln w="12700">
            <a:solidFill>
              <a:srgbClr val="C4E3CE"/>
            </a:solidFill>
            <a:prstDash val="solid"/>
          </a:ln>
        </p:spPr>
      </p:sp>
      <p:sp>
        <p:nvSpPr>
          <p:cNvPr id="42" name="Shape 35"/>
          <p:cNvSpPr/>
          <p:nvPr/>
        </p:nvSpPr>
        <p:spPr>
          <a:xfrm>
            <a:off x="6236208" y="4114800"/>
            <a:ext cx="338328" cy="338328"/>
          </a:xfrm>
          <a:prstGeom prst="ellipse">
            <a:avLst/>
          </a:prstGeom>
          <a:solidFill>
            <a:srgbClr val="1E7F3E"/>
          </a:solidFill>
          <a:ln w="12700">
            <a:solidFill>
              <a:srgbClr val="1E7F3E"/>
            </a:solidFill>
            <a:prstDash val="solid"/>
          </a:ln>
        </p:spPr>
      </p:sp>
      <p:pic>
        <p:nvPicPr>
          <p:cNvPr id="43" name="Image 5" descr="preencoded.png">    </p:cNvPr>
          <p:cNvPicPr>
            <a:picLocks noChangeAspect="1"/>
          </p:cNvPicPr>
          <p:nvPr/>
        </p:nvPicPr>
        <p:blipFill>
          <a:blip r:embed="rId6"/>
          <a:stretch>
            <a:fillRect/>
          </a:stretch>
        </p:blipFill>
        <p:spPr>
          <a:xfrm>
            <a:off x="6317407" y="4195999"/>
            <a:ext cx="175931" cy="175931"/>
          </a:xfrm>
          <a:prstGeom prst="rect">
            <a:avLst/>
          </a:prstGeom>
        </p:spPr>
      </p:pic>
      <p:sp>
        <p:nvSpPr>
          <p:cNvPr id="44" name="Text 36"/>
          <p:cNvSpPr txBox="1"/>
          <p:nvPr/>
        </p:nvSpPr>
        <p:spPr>
          <a:xfrm>
            <a:off x="6656832" y="4069080"/>
            <a:ext cx="5166360" cy="429768"/>
          </a:xfrm>
          <a:prstGeom prst="rect">
            <a:avLst/>
          </a:prstGeom>
          <a:noFill/>
          <a:ln/>
        </p:spPr>
        <p:txBody>
          <a:bodyPr wrap="square" lIns="0" tIns="0" rIns="0" bIns="0" rtlCol="0" anchor="ctr"/>
          <a:lstStyle/>
          <a:p>
            <a:pPr indent="0" marL="0">
              <a:buNone/>
            </a:pPr>
            <a:r>
              <a:rPr lang="en-US" sz="1050" dirty="0">
                <a:solidFill>
                  <a:srgbClr val="16202E"/>
                </a:solidFill>
                <a:latin typeface="Arial" pitchFamily="34" charset="0"/>
                <a:ea typeface="Arial" pitchFamily="34" charset="-122"/>
                <a:cs typeface="Arial" pitchFamily="34" charset="-120"/>
              </a:rPr>
              <a:t>Unsupervised, supplementary ranking; evaluated on 80 labelled lab sessions; rules stay primary.</a:t>
            </a:r>
            <a:endParaRPr lang="en-US" sz="1050" dirty="0"/>
          </a:p>
        </p:txBody>
      </p:sp>
      <p:sp>
        <p:nvSpPr>
          <p:cNvPr id="45" name="Shape 37"/>
          <p:cNvSpPr/>
          <p:nvPr/>
        </p:nvSpPr>
        <p:spPr>
          <a:xfrm>
            <a:off x="320040" y="4581144"/>
            <a:ext cx="5257800" cy="429768"/>
          </a:xfrm>
          <a:prstGeom prst="rect">
            <a:avLst/>
          </a:prstGeom>
          <a:solidFill>
            <a:srgbClr val="FBEDEB"/>
          </a:solidFill>
          <a:ln w="12700">
            <a:solidFill>
              <a:srgbClr val="F0C9C3"/>
            </a:solidFill>
            <a:prstDash val="solid"/>
          </a:ln>
        </p:spPr>
      </p:sp>
      <p:sp>
        <p:nvSpPr>
          <p:cNvPr id="46" name="Shape 38"/>
          <p:cNvSpPr/>
          <p:nvPr/>
        </p:nvSpPr>
        <p:spPr>
          <a:xfrm>
            <a:off x="384048" y="4626864"/>
            <a:ext cx="338328" cy="338328"/>
          </a:xfrm>
          <a:prstGeom prst="ellipse">
            <a:avLst/>
          </a:prstGeom>
          <a:solidFill>
            <a:srgbClr val="B42318"/>
          </a:solidFill>
          <a:ln w="12700">
            <a:solidFill>
              <a:srgbClr val="B42318"/>
            </a:solidFill>
            <a:prstDash val="solid"/>
          </a:ln>
        </p:spPr>
      </p:sp>
      <p:pic>
        <p:nvPicPr>
          <p:cNvPr id="47" name="Image 6" descr="preencoded.png">    </p:cNvPr>
          <p:cNvPicPr>
            <a:picLocks noChangeAspect="1"/>
          </p:cNvPicPr>
          <p:nvPr/>
        </p:nvPicPr>
        <p:blipFill>
          <a:blip r:embed="rId7"/>
          <a:stretch>
            <a:fillRect/>
          </a:stretch>
        </p:blipFill>
        <p:spPr>
          <a:xfrm>
            <a:off x="465247" y="4708063"/>
            <a:ext cx="175931" cy="175931"/>
          </a:xfrm>
          <a:prstGeom prst="rect">
            <a:avLst/>
          </a:prstGeom>
        </p:spPr>
      </p:pic>
      <p:sp>
        <p:nvSpPr>
          <p:cNvPr id="48" name="Text 39"/>
          <p:cNvSpPr txBox="1"/>
          <p:nvPr/>
        </p:nvSpPr>
        <p:spPr>
          <a:xfrm>
            <a:off x="804672" y="4581144"/>
            <a:ext cx="4709160" cy="429768"/>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Sensitive traffic (credentials, addresses)</a:t>
            </a:r>
            <a:endParaRPr lang="en-US" sz="1150" dirty="0"/>
          </a:p>
        </p:txBody>
      </p:sp>
      <p:sp>
        <p:nvSpPr>
          <p:cNvPr id="49" name="Shape 40"/>
          <p:cNvSpPr/>
          <p:nvPr/>
        </p:nvSpPr>
        <p:spPr>
          <a:xfrm>
            <a:off x="5650992" y="4672584"/>
            <a:ext cx="438912" cy="246888"/>
          </a:xfrm>
          <a:prstGeom prst="rightArrow">
            <a:avLst/>
          </a:prstGeom>
          <a:solidFill>
            <a:srgbClr val="68768A"/>
          </a:solidFill>
          <a:ln w="12700">
            <a:solidFill>
              <a:srgbClr val="68768A"/>
            </a:solidFill>
            <a:prstDash val="solid"/>
          </a:ln>
        </p:spPr>
      </p:sp>
      <p:sp>
        <p:nvSpPr>
          <p:cNvPr id="50" name="Shape 41"/>
          <p:cNvSpPr/>
          <p:nvPr/>
        </p:nvSpPr>
        <p:spPr>
          <a:xfrm>
            <a:off x="6172200" y="4581144"/>
            <a:ext cx="5715000" cy="429768"/>
          </a:xfrm>
          <a:prstGeom prst="rect">
            <a:avLst/>
          </a:prstGeom>
          <a:solidFill>
            <a:srgbClr val="EAF5EE"/>
          </a:solidFill>
          <a:ln w="12700">
            <a:solidFill>
              <a:srgbClr val="C4E3CE"/>
            </a:solidFill>
            <a:prstDash val="solid"/>
          </a:ln>
        </p:spPr>
      </p:sp>
      <p:sp>
        <p:nvSpPr>
          <p:cNvPr id="51" name="Shape 42"/>
          <p:cNvSpPr/>
          <p:nvPr/>
        </p:nvSpPr>
        <p:spPr>
          <a:xfrm>
            <a:off x="6236208" y="4626864"/>
            <a:ext cx="338328" cy="338328"/>
          </a:xfrm>
          <a:prstGeom prst="ellipse">
            <a:avLst/>
          </a:prstGeom>
          <a:solidFill>
            <a:srgbClr val="1E7F3E"/>
          </a:solidFill>
          <a:ln w="12700">
            <a:solidFill>
              <a:srgbClr val="1E7F3E"/>
            </a:solidFill>
            <a:prstDash val="solid"/>
          </a:ln>
        </p:spPr>
      </p:sp>
      <p:pic>
        <p:nvPicPr>
          <p:cNvPr id="52" name="Image 7" descr="preencoded.png">    </p:cNvPr>
          <p:cNvPicPr>
            <a:picLocks noChangeAspect="1"/>
          </p:cNvPicPr>
          <p:nvPr/>
        </p:nvPicPr>
        <p:blipFill>
          <a:blip r:embed="rId8"/>
          <a:stretch>
            <a:fillRect/>
          </a:stretch>
        </p:blipFill>
        <p:spPr>
          <a:xfrm>
            <a:off x="6317407" y="4708063"/>
            <a:ext cx="175931" cy="175931"/>
          </a:xfrm>
          <a:prstGeom prst="rect">
            <a:avLst/>
          </a:prstGeom>
        </p:spPr>
      </p:pic>
      <p:sp>
        <p:nvSpPr>
          <p:cNvPr id="53" name="Text 43"/>
          <p:cNvSpPr txBox="1"/>
          <p:nvPr/>
        </p:nvSpPr>
        <p:spPr>
          <a:xfrm>
            <a:off x="6656832" y="4581144"/>
            <a:ext cx="5166360" cy="429768"/>
          </a:xfrm>
          <a:prstGeom prst="rect">
            <a:avLst/>
          </a:prstGeom>
          <a:noFill/>
          <a:ln/>
        </p:spPr>
        <p:txBody>
          <a:bodyPr wrap="square" lIns="0" tIns="0" rIns="0" bIns="0" rtlCol="0" anchor="ctr"/>
          <a:lstStyle/>
          <a:p>
            <a:pPr indent="0" marL="0">
              <a:buNone/>
            </a:pPr>
            <a:r>
              <a:rPr lang="en-US" sz="1050" dirty="0">
                <a:solidFill>
                  <a:srgbClr val="16202E"/>
                </a:solidFill>
                <a:latin typeface="Arial" pitchFamily="34" charset="0"/>
                <a:ea typeface="Arial" pitchFamily="34" charset="-122"/>
                <a:cs typeface="Arial" pitchFamily="34" charset="-120"/>
              </a:rPr>
              <a:t>Credentials never stored; redacted outputs; API bound to 127.0.0.1.</a:t>
            </a:r>
            <a:endParaRPr lang="en-US" sz="1050" dirty="0"/>
          </a:p>
        </p:txBody>
      </p:sp>
      <p:sp>
        <p:nvSpPr>
          <p:cNvPr id="54" name="Shape 44"/>
          <p:cNvSpPr/>
          <p:nvPr/>
        </p:nvSpPr>
        <p:spPr>
          <a:xfrm>
            <a:off x="320040" y="5093208"/>
            <a:ext cx="5257800" cy="429768"/>
          </a:xfrm>
          <a:prstGeom prst="rect">
            <a:avLst/>
          </a:prstGeom>
          <a:solidFill>
            <a:srgbClr val="FBEDEB"/>
          </a:solidFill>
          <a:ln w="12700">
            <a:solidFill>
              <a:srgbClr val="F0C9C3"/>
            </a:solidFill>
            <a:prstDash val="solid"/>
          </a:ln>
        </p:spPr>
      </p:sp>
      <p:sp>
        <p:nvSpPr>
          <p:cNvPr id="55" name="Shape 45"/>
          <p:cNvSpPr/>
          <p:nvPr/>
        </p:nvSpPr>
        <p:spPr>
          <a:xfrm>
            <a:off x="384048" y="5138928"/>
            <a:ext cx="338328" cy="338328"/>
          </a:xfrm>
          <a:prstGeom prst="ellipse">
            <a:avLst/>
          </a:prstGeom>
          <a:solidFill>
            <a:srgbClr val="B42318"/>
          </a:solidFill>
          <a:ln w="12700">
            <a:solidFill>
              <a:srgbClr val="B42318"/>
            </a:solidFill>
            <a:prstDash val="solid"/>
          </a:ln>
        </p:spPr>
      </p:sp>
      <p:pic>
        <p:nvPicPr>
          <p:cNvPr id="56" name="Image 8" descr="preencoded.png">    </p:cNvPr>
          <p:cNvPicPr>
            <a:picLocks noChangeAspect="1"/>
          </p:cNvPicPr>
          <p:nvPr/>
        </p:nvPicPr>
        <p:blipFill>
          <a:blip r:embed="rId9"/>
          <a:stretch>
            <a:fillRect/>
          </a:stretch>
        </p:blipFill>
        <p:spPr>
          <a:xfrm>
            <a:off x="465247" y="5220127"/>
            <a:ext cx="175931" cy="175931"/>
          </a:xfrm>
          <a:prstGeom prst="rect">
            <a:avLst/>
          </a:prstGeom>
        </p:spPr>
      </p:pic>
      <p:sp>
        <p:nvSpPr>
          <p:cNvPr id="57" name="Text 46"/>
          <p:cNvSpPr txBox="1"/>
          <p:nvPr/>
        </p:nvSpPr>
        <p:spPr>
          <a:xfrm>
            <a:off x="804672" y="5093208"/>
            <a:ext cx="4709160" cy="429768"/>
          </a:xfrm>
          <a:prstGeom prst="rect">
            <a:avLst/>
          </a:prstGeom>
          <a:noFill/>
          <a:ln/>
        </p:spPr>
        <p:txBody>
          <a:bodyPr wrap="square" lIns="0" tIns="0" rIns="0" bIns="0" rtlCol="0" anchor="ctr"/>
          <a:lstStyle/>
          <a:p>
            <a:pPr indent="0" marL="0">
              <a:buNone/>
            </a:pPr>
            <a:r>
              <a:rPr lang="en-US" sz="1150" b="1" dirty="0">
                <a:solidFill>
                  <a:srgbClr val="16202E"/>
                </a:solidFill>
                <a:latin typeface="Arial" pitchFamily="34" charset="0"/>
                <a:ea typeface="Arial" pitchFamily="34" charset="-122"/>
                <a:cs typeface="Arial" pitchFamily="34" charset="-120"/>
              </a:rPr>
              <a:t>Very large captures</a:t>
            </a:r>
            <a:endParaRPr lang="en-US" sz="1150" dirty="0"/>
          </a:p>
        </p:txBody>
      </p:sp>
      <p:sp>
        <p:nvSpPr>
          <p:cNvPr id="58" name="Shape 47"/>
          <p:cNvSpPr/>
          <p:nvPr/>
        </p:nvSpPr>
        <p:spPr>
          <a:xfrm>
            <a:off x="5650992" y="5184648"/>
            <a:ext cx="438912" cy="246888"/>
          </a:xfrm>
          <a:prstGeom prst="rightArrow">
            <a:avLst/>
          </a:prstGeom>
          <a:solidFill>
            <a:srgbClr val="68768A"/>
          </a:solidFill>
          <a:ln w="12700">
            <a:solidFill>
              <a:srgbClr val="68768A"/>
            </a:solidFill>
            <a:prstDash val="solid"/>
          </a:ln>
        </p:spPr>
      </p:sp>
      <p:sp>
        <p:nvSpPr>
          <p:cNvPr id="59" name="Shape 48"/>
          <p:cNvSpPr/>
          <p:nvPr/>
        </p:nvSpPr>
        <p:spPr>
          <a:xfrm>
            <a:off x="6172200" y="5093208"/>
            <a:ext cx="5715000" cy="429768"/>
          </a:xfrm>
          <a:prstGeom prst="rect">
            <a:avLst/>
          </a:prstGeom>
          <a:solidFill>
            <a:srgbClr val="EAF5EE"/>
          </a:solidFill>
          <a:ln w="12700">
            <a:solidFill>
              <a:srgbClr val="C4E3CE"/>
            </a:solidFill>
            <a:prstDash val="solid"/>
          </a:ln>
        </p:spPr>
      </p:sp>
      <p:sp>
        <p:nvSpPr>
          <p:cNvPr id="60" name="Shape 49"/>
          <p:cNvSpPr/>
          <p:nvPr/>
        </p:nvSpPr>
        <p:spPr>
          <a:xfrm>
            <a:off x="6236208" y="5138928"/>
            <a:ext cx="338328" cy="338328"/>
          </a:xfrm>
          <a:prstGeom prst="ellipse">
            <a:avLst/>
          </a:prstGeom>
          <a:solidFill>
            <a:srgbClr val="1E7F3E"/>
          </a:solidFill>
          <a:ln w="12700">
            <a:solidFill>
              <a:srgbClr val="1E7F3E"/>
            </a:solidFill>
            <a:prstDash val="solid"/>
          </a:ln>
        </p:spPr>
      </p:sp>
      <p:pic>
        <p:nvPicPr>
          <p:cNvPr id="61" name="Image 9" descr="preencoded.png">    </p:cNvPr>
          <p:cNvPicPr>
            <a:picLocks noChangeAspect="1"/>
          </p:cNvPicPr>
          <p:nvPr/>
        </p:nvPicPr>
        <p:blipFill>
          <a:blip r:embed="rId10"/>
          <a:stretch>
            <a:fillRect/>
          </a:stretch>
        </p:blipFill>
        <p:spPr>
          <a:xfrm>
            <a:off x="6317407" y="5220127"/>
            <a:ext cx="175931" cy="175931"/>
          </a:xfrm>
          <a:prstGeom prst="rect">
            <a:avLst/>
          </a:prstGeom>
        </p:spPr>
      </p:pic>
      <p:sp>
        <p:nvSpPr>
          <p:cNvPr id="62" name="Text 50"/>
          <p:cNvSpPr txBox="1"/>
          <p:nvPr/>
        </p:nvSpPr>
        <p:spPr>
          <a:xfrm>
            <a:off x="6656832" y="5093208"/>
            <a:ext cx="5166360" cy="429768"/>
          </a:xfrm>
          <a:prstGeom prst="rect">
            <a:avLst/>
          </a:prstGeom>
          <a:noFill/>
          <a:ln/>
        </p:spPr>
        <p:txBody>
          <a:bodyPr wrap="square" lIns="0" tIns="0" rIns="0" bIns="0" rtlCol="0" anchor="ctr"/>
          <a:lstStyle/>
          <a:p>
            <a:pPr indent="0" marL="0">
              <a:buNone/>
            </a:pPr>
            <a:r>
              <a:rPr lang="en-US" sz="1050" dirty="0">
                <a:solidFill>
                  <a:srgbClr val="16202E"/>
                </a:solidFill>
                <a:latin typeface="Arial" pitchFamily="34" charset="0"/>
                <a:ea typeface="Arial" pitchFamily="34" charset="-122"/>
                <a:cs typeface="Arial" pitchFamily="34" charset="-120"/>
              </a:rPr>
              <a:t>Streamed ingestion, 100 MB upload limit, batched ML scoring, capped PDF tables.</a:t>
            </a:r>
            <a:endParaRPr lang="en-US" sz="1050" dirty="0"/>
          </a:p>
        </p:txBody>
      </p:sp>
      <p:sp>
        <p:nvSpPr>
          <p:cNvPr id="63" name="Text 51"/>
          <p:cNvSpPr txBox="1"/>
          <p:nvPr/>
        </p:nvSpPr>
        <p:spPr>
          <a:xfrm>
            <a:off x="320040" y="5669280"/>
            <a:ext cx="1097280" cy="310896"/>
          </a:xfrm>
          <a:prstGeom prst="rect">
            <a:avLst/>
          </a:prstGeom>
          <a:noFill/>
          <a:ln/>
        </p:spPr>
        <p:txBody>
          <a:bodyPr wrap="square" lIns="0" tIns="0" rIns="0" bIns="0" rtlCol="0" anchor="ctr"/>
          <a:lstStyle/>
          <a:p>
            <a:pPr indent="0" marL="0">
              <a:buNone/>
            </a:pPr>
            <a:r>
              <a:rPr lang="en-US" sz="1300" b="1" dirty="0">
                <a:solidFill>
                  <a:srgbClr val="13233F"/>
                </a:solidFill>
                <a:latin typeface="Arial" pitchFamily="34" charset="0"/>
                <a:ea typeface="Arial" pitchFamily="34" charset="-122"/>
                <a:cs typeface="Arial" pitchFamily="34" charset="-120"/>
              </a:rPr>
              <a:t>Viability</a:t>
            </a:r>
            <a:endParaRPr lang="en-US" sz="1300" dirty="0"/>
          </a:p>
        </p:txBody>
      </p:sp>
      <p:sp>
        <p:nvSpPr>
          <p:cNvPr id="64" name="Text 52"/>
          <p:cNvSpPr txBox="1"/>
          <p:nvPr/>
        </p:nvSpPr>
        <p:spPr>
          <a:xfrm>
            <a:off x="1325880" y="5650992"/>
            <a:ext cx="10515600" cy="685800"/>
          </a:xfrm>
          <a:prstGeom prst="rect">
            <a:avLst/>
          </a:prstGeom>
          <a:noFill/>
          <a:ln/>
        </p:spPr>
        <p:txBody>
          <a:bodyPr wrap="square" lIns="0" tIns="0" rIns="0" bIns="0" rtlCol="0" anchor="ctr"/>
          <a:lstStyle/>
          <a:p>
            <a:pPr indent="0" marL="0">
              <a:buNone/>
            </a:pPr>
            <a:r>
              <a:rPr lang="en-US" sz="1150" dirty="0">
                <a:solidFill>
                  <a:srgbClr val="16202E"/>
                </a:solidFill>
                <a:latin typeface="Arial" pitchFamily="34" charset="0"/>
                <a:ea typeface="Arial" pitchFamily="34" charset="-122"/>
                <a:cs typeface="Arial" pitchFamily="34" charset="-120"/>
              </a:rPr>
              <a:t>Runs on </a:t>
            </a:r>
            <a:pPr indent="0" marL="0">
              <a:buNone/>
            </a:pPr>
            <a:r>
              <a:rPr lang="en-US" sz="1150" b="1" dirty="0">
                <a:solidFill>
                  <a:srgbClr val="1F5AA6"/>
                </a:solidFill>
                <a:latin typeface="Arial" pitchFamily="34" charset="0"/>
                <a:ea typeface="Arial" pitchFamily="34" charset="-122"/>
                <a:cs typeface="Arial" pitchFamily="34" charset="-120"/>
              </a:rPr>
              <a:t>one analyst laptop</a:t>
            </a:r>
            <a:pPr indent="0" marL="0">
              <a:buNone/>
            </a:pPr>
            <a:r>
              <a:rPr lang="en-US" sz="1150" dirty="0">
                <a:solidFill>
                  <a:srgbClr val="16202E"/>
                </a:solidFill>
                <a:latin typeface="Arial" pitchFamily="34" charset="0"/>
                <a:ea typeface="Arial" pitchFamily="34" charset="-122"/>
                <a:cs typeface="Arial" pitchFamily="34" charset="-120"/>
              </a:rPr>
              <a:t> (Windows / Linux), </a:t>
            </a:r>
            <a:pPr indent="0" marL="0">
              <a:buNone/>
            </a:pPr>
            <a:r>
              <a:rPr lang="en-US" sz="1150" b="1" dirty="0">
                <a:solidFill>
                  <a:srgbClr val="1F5AA6"/>
                </a:solidFill>
                <a:latin typeface="Arial" pitchFamily="34" charset="0"/>
                <a:ea typeface="Arial" pitchFamily="34" charset="-122"/>
                <a:cs typeface="Arial" pitchFamily="34" charset="-120"/>
              </a:rPr>
              <a:t>offline and air-gapped</a:t>
            </a:r>
            <a:pPr indent="0" marL="0">
              <a:buNone/>
            </a:pPr>
            <a:r>
              <a:rPr lang="en-US" sz="1150" dirty="0">
                <a:solidFill>
                  <a:srgbClr val="16202E"/>
                </a:solidFill>
                <a:latin typeface="Arial" pitchFamily="34" charset="0"/>
                <a:ea typeface="Arial" pitchFamily="34" charset="-122"/>
                <a:cs typeface="Arial" pitchFamily="34" charset="-120"/>
              </a:rPr>
              <a:t>; open-source stack with </a:t>
            </a:r>
            <a:pPr indent="0" marL="0">
              <a:buNone/>
            </a:pPr>
            <a:r>
              <a:rPr lang="en-US" sz="1150" b="1" dirty="0">
                <a:solidFill>
                  <a:srgbClr val="1F5AA6"/>
                </a:solidFill>
                <a:latin typeface="Arial" pitchFamily="34" charset="0"/>
                <a:ea typeface="Arial" pitchFamily="34" charset="-122"/>
                <a:cs typeface="Arial" pitchFamily="34" charset="-120"/>
              </a:rPr>
              <a:t>no licence cost</a:t>
            </a:r>
            <a:pPr indent="0" marL="0">
              <a:buNone/>
            </a:pPr>
            <a:r>
              <a:rPr lang="en-US" sz="1150" dirty="0">
                <a:solidFill>
                  <a:srgbClr val="16202E"/>
                </a:solidFill>
                <a:latin typeface="Arial" pitchFamily="34" charset="0"/>
                <a:ea typeface="Arial" pitchFamily="34" charset="-122"/>
                <a:cs typeface="Arial" pitchFamily="34" charset="-120"/>
              </a:rPr>
              <a:t>; deployable by CERT / SOC teams without touching production mail servers.</a:t>
            </a:r>
            <a:endParaRPr lang="en-US" sz="115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148840" y="164592"/>
            <a:ext cx="7818120" cy="713232"/>
          </a:xfrm>
          <a:prstGeom prst="rect">
            <a:avLst/>
          </a:prstGeom>
          <a:noFill/>
          <a:ln/>
        </p:spPr>
        <p:txBody>
          <a:bodyPr wrap="square" lIns="0" tIns="0" rIns="0" bIns="0" rtlCol="0" anchor="ctr"/>
          <a:lstStyle/>
          <a:p>
            <a:pPr algn="ctr" indent="0" marL="0">
              <a:buNone/>
            </a:pPr>
            <a:r>
              <a:rPr lang="en-US" sz="3200" b="1" dirty="0">
                <a:solidFill>
                  <a:srgbClr val="16202E"/>
                </a:solidFill>
                <a:latin typeface="Times New Roman" pitchFamily="34" charset="0"/>
                <a:ea typeface="Times New Roman" pitchFamily="34" charset="-122"/>
                <a:cs typeface="Times New Roman" pitchFamily="34" charset="-120"/>
              </a:rPr>
              <a:t>IMPACT AND BENEFITS</a:t>
            </a:r>
            <a:endParaRPr lang="en-US" sz="3200" dirty="0"/>
          </a:p>
        </p:txBody>
      </p:sp>
      <p:sp>
        <p:nvSpPr>
          <p:cNvPr id="3" name="Text 1"/>
          <p:cNvSpPr txBox="1"/>
          <p:nvPr/>
        </p:nvSpPr>
        <p:spPr>
          <a:xfrm>
            <a:off x="320040" y="932688"/>
            <a:ext cx="5212080" cy="411480"/>
          </a:xfrm>
          <a:prstGeom prst="rect">
            <a:avLst/>
          </a:prstGeom>
          <a:noFill/>
          <a:ln/>
        </p:spPr>
        <p:txBody>
          <a:bodyPr wrap="square" lIns="0" tIns="0" rIns="0" bIns="0" rtlCol="0" anchor="ctr"/>
          <a:lstStyle/>
          <a:p>
            <a:pPr algn="ctr" indent="0" marL="0">
              <a:buNone/>
            </a:pPr>
            <a:r>
              <a:rPr lang="en-US" sz="1800" b="1" dirty="0">
                <a:solidFill>
                  <a:srgbClr val="13233F"/>
                </a:solidFill>
                <a:latin typeface="Arial" pitchFamily="34" charset="0"/>
                <a:ea typeface="Arial" pitchFamily="34" charset="-122"/>
                <a:cs typeface="Arial" pitchFamily="34" charset="-120"/>
              </a:rPr>
              <a:t>IMPACT</a:t>
            </a:r>
            <a:endParaRPr lang="en-US" sz="1800" dirty="0"/>
          </a:p>
        </p:txBody>
      </p:sp>
      <p:sp>
        <p:nvSpPr>
          <p:cNvPr id="4" name="Text 2"/>
          <p:cNvSpPr txBox="1"/>
          <p:nvPr/>
        </p:nvSpPr>
        <p:spPr>
          <a:xfrm>
            <a:off x="5989320" y="932688"/>
            <a:ext cx="5897880" cy="411480"/>
          </a:xfrm>
          <a:prstGeom prst="rect">
            <a:avLst/>
          </a:prstGeom>
          <a:noFill/>
          <a:ln/>
        </p:spPr>
        <p:txBody>
          <a:bodyPr wrap="square" lIns="0" tIns="0" rIns="0" bIns="0" rtlCol="0" anchor="ctr"/>
          <a:lstStyle/>
          <a:p>
            <a:pPr algn="ctr" indent="0" marL="0">
              <a:buNone/>
            </a:pPr>
            <a:r>
              <a:rPr lang="en-US" sz="1800" b="1" dirty="0">
                <a:solidFill>
                  <a:srgbClr val="1E7F3E"/>
                </a:solidFill>
                <a:latin typeface="Arial" pitchFamily="34" charset="0"/>
                <a:ea typeface="Arial" pitchFamily="34" charset="-122"/>
                <a:cs typeface="Arial" pitchFamily="34" charset="-120"/>
              </a:rPr>
              <a:t>BENEFITS</a:t>
            </a:r>
            <a:endParaRPr lang="en-US" sz="1800" dirty="0"/>
          </a:p>
        </p:txBody>
      </p:sp>
      <p:sp>
        <p:nvSpPr>
          <p:cNvPr id="5" name="Shape 3"/>
          <p:cNvSpPr/>
          <p:nvPr/>
        </p:nvSpPr>
        <p:spPr>
          <a:xfrm>
            <a:off x="320040" y="1463040"/>
            <a:ext cx="5440680" cy="841248"/>
          </a:xfrm>
          <a:prstGeom prst="roundRect">
            <a:avLst>
              <a:gd name="adj" fmla="val 8696"/>
            </a:avLst>
          </a:prstGeom>
          <a:solidFill>
            <a:srgbClr val="EEF2F8"/>
          </a:solidFill>
          <a:ln w="15875">
            <a:solidFill>
              <a:srgbClr val="13233F"/>
            </a:solidFill>
            <a:prstDash val="solid"/>
          </a:ln>
        </p:spPr>
      </p:sp>
      <p:sp>
        <p:nvSpPr>
          <p:cNvPr id="6" name="Shape 4"/>
          <p:cNvSpPr/>
          <p:nvPr/>
        </p:nvSpPr>
        <p:spPr>
          <a:xfrm>
            <a:off x="448056" y="1591056"/>
            <a:ext cx="585216" cy="585216"/>
          </a:xfrm>
          <a:prstGeom prst="ellipse">
            <a:avLst/>
          </a:prstGeom>
          <a:solidFill>
            <a:srgbClr val="13233F"/>
          </a:solidFill>
          <a:ln w="12700">
            <a:solidFill>
              <a:srgbClr val="13233F"/>
            </a:solidFill>
            <a:prstDash val="solid"/>
          </a:ln>
        </p:spPr>
      </p:sp>
      <p:pic>
        <p:nvPicPr>
          <p:cNvPr id="7" name="Image 0" descr="preencoded.png">    </p:cNvPr>
          <p:cNvPicPr>
            <a:picLocks noChangeAspect="1"/>
          </p:cNvPicPr>
          <p:nvPr/>
        </p:nvPicPr>
        <p:blipFill>
          <a:blip r:embed="rId1"/>
          <a:stretch>
            <a:fillRect/>
          </a:stretch>
        </p:blipFill>
        <p:spPr>
          <a:xfrm>
            <a:off x="588508" y="1731508"/>
            <a:ext cx="304312" cy="304312"/>
          </a:xfrm>
          <a:prstGeom prst="rect">
            <a:avLst/>
          </a:prstGeom>
        </p:spPr>
      </p:pic>
      <p:sp>
        <p:nvSpPr>
          <p:cNvPr id="8" name="Text 5"/>
          <p:cNvSpPr txBox="1"/>
          <p:nvPr/>
        </p:nvSpPr>
        <p:spPr>
          <a:xfrm>
            <a:off x="1161288" y="1499616"/>
            <a:ext cx="45079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Stronger national email security</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Government, banks and enterprises find weak TLS before attackers do.</a:t>
            </a:r>
            <a:endParaRPr lang="en-US" sz="1350" dirty="0"/>
          </a:p>
        </p:txBody>
      </p:sp>
      <p:sp>
        <p:nvSpPr>
          <p:cNvPr id="9" name="Shape 6"/>
          <p:cNvSpPr/>
          <p:nvPr/>
        </p:nvSpPr>
        <p:spPr>
          <a:xfrm>
            <a:off x="320040" y="2441448"/>
            <a:ext cx="5440680" cy="841248"/>
          </a:xfrm>
          <a:prstGeom prst="roundRect">
            <a:avLst>
              <a:gd name="adj" fmla="val 8696"/>
            </a:avLst>
          </a:prstGeom>
          <a:solidFill>
            <a:srgbClr val="EEF2F8"/>
          </a:solidFill>
          <a:ln w="15875">
            <a:solidFill>
              <a:srgbClr val="13233F"/>
            </a:solidFill>
            <a:prstDash val="solid"/>
          </a:ln>
        </p:spPr>
      </p:sp>
      <p:sp>
        <p:nvSpPr>
          <p:cNvPr id="10" name="Shape 7"/>
          <p:cNvSpPr/>
          <p:nvPr/>
        </p:nvSpPr>
        <p:spPr>
          <a:xfrm>
            <a:off x="448056" y="2569464"/>
            <a:ext cx="585216" cy="585216"/>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588508" y="2709916"/>
            <a:ext cx="304312" cy="304312"/>
          </a:xfrm>
          <a:prstGeom prst="rect">
            <a:avLst/>
          </a:prstGeom>
        </p:spPr>
      </p:pic>
      <p:sp>
        <p:nvSpPr>
          <p:cNvPr id="12" name="Text 8"/>
          <p:cNvSpPr txBox="1"/>
          <p:nvPr/>
        </p:nvSpPr>
        <p:spPr>
          <a:xfrm>
            <a:off x="1161288" y="2478024"/>
            <a:ext cx="45079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Faster audits</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PCAP to prioritised report in minutes: 1M packets in about 4 min on a laptop.</a:t>
            </a:r>
            <a:endParaRPr lang="en-US" sz="1350" dirty="0"/>
          </a:p>
        </p:txBody>
      </p:sp>
      <p:sp>
        <p:nvSpPr>
          <p:cNvPr id="13" name="Shape 9"/>
          <p:cNvSpPr/>
          <p:nvPr/>
        </p:nvSpPr>
        <p:spPr>
          <a:xfrm>
            <a:off x="320040" y="3419856"/>
            <a:ext cx="5440680" cy="841248"/>
          </a:xfrm>
          <a:prstGeom prst="roundRect">
            <a:avLst>
              <a:gd name="adj" fmla="val 8696"/>
            </a:avLst>
          </a:prstGeom>
          <a:solidFill>
            <a:srgbClr val="EEF2F8"/>
          </a:solidFill>
          <a:ln w="15875">
            <a:solidFill>
              <a:srgbClr val="13233F"/>
            </a:solidFill>
            <a:prstDash val="solid"/>
          </a:ln>
        </p:spPr>
      </p:sp>
      <p:sp>
        <p:nvSpPr>
          <p:cNvPr id="14" name="Shape 10"/>
          <p:cNvSpPr/>
          <p:nvPr/>
        </p:nvSpPr>
        <p:spPr>
          <a:xfrm>
            <a:off x="448056" y="3547872"/>
            <a:ext cx="585216" cy="585216"/>
          </a:xfrm>
          <a:prstGeom prst="ellipse">
            <a:avLst/>
          </a:prstGeom>
          <a:solidFill>
            <a:srgbClr val="13233F"/>
          </a:solidFill>
          <a:ln w="12700">
            <a:solidFill>
              <a:srgbClr val="13233F"/>
            </a:solidFill>
            <a:prstDash val="solid"/>
          </a:ln>
        </p:spPr>
      </p:sp>
      <p:pic>
        <p:nvPicPr>
          <p:cNvPr id="15" name="Image 2" descr="preencoded.png">    </p:cNvPr>
          <p:cNvPicPr>
            <a:picLocks noChangeAspect="1"/>
          </p:cNvPicPr>
          <p:nvPr/>
        </p:nvPicPr>
        <p:blipFill>
          <a:blip r:embed="rId3"/>
          <a:stretch>
            <a:fillRect/>
          </a:stretch>
        </p:blipFill>
        <p:spPr>
          <a:xfrm>
            <a:off x="588508" y="3688324"/>
            <a:ext cx="304312" cy="304312"/>
          </a:xfrm>
          <a:prstGeom prst="rect">
            <a:avLst/>
          </a:prstGeom>
        </p:spPr>
      </p:pic>
      <p:sp>
        <p:nvSpPr>
          <p:cNvPr id="16" name="Text 11"/>
          <p:cNvSpPr txBox="1"/>
          <p:nvPr/>
        </p:nvSpPr>
        <p:spPr>
          <a:xfrm>
            <a:off x="1161288" y="3456432"/>
            <a:ext cx="45079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Forensically defensible</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Each finding cites capture frames and the capture SHA-256.</a:t>
            </a:r>
            <a:endParaRPr lang="en-US" sz="1350" dirty="0"/>
          </a:p>
        </p:txBody>
      </p:sp>
      <p:sp>
        <p:nvSpPr>
          <p:cNvPr id="17" name="Shape 12"/>
          <p:cNvSpPr/>
          <p:nvPr/>
        </p:nvSpPr>
        <p:spPr>
          <a:xfrm>
            <a:off x="320040" y="4398264"/>
            <a:ext cx="5440680" cy="841248"/>
          </a:xfrm>
          <a:prstGeom prst="roundRect">
            <a:avLst>
              <a:gd name="adj" fmla="val 8696"/>
            </a:avLst>
          </a:prstGeom>
          <a:solidFill>
            <a:srgbClr val="EEF2F8"/>
          </a:solidFill>
          <a:ln w="15875">
            <a:solidFill>
              <a:srgbClr val="13233F"/>
            </a:solidFill>
            <a:prstDash val="solid"/>
          </a:ln>
        </p:spPr>
      </p:sp>
      <p:sp>
        <p:nvSpPr>
          <p:cNvPr id="18" name="Shape 13"/>
          <p:cNvSpPr/>
          <p:nvPr/>
        </p:nvSpPr>
        <p:spPr>
          <a:xfrm>
            <a:off x="448056" y="4526280"/>
            <a:ext cx="585216" cy="585216"/>
          </a:xfrm>
          <a:prstGeom prst="ellipse">
            <a:avLst/>
          </a:prstGeom>
          <a:solidFill>
            <a:srgbClr val="13233F"/>
          </a:solidFill>
          <a:ln w="12700">
            <a:solidFill>
              <a:srgbClr val="13233F"/>
            </a:solidFill>
            <a:prstDash val="solid"/>
          </a:ln>
        </p:spPr>
      </p:sp>
      <p:pic>
        <p:nvPicPr>
          <p:cNvPr id="19" name="Image 3" descr="preencoded.png">    </p:cNvPr>
          <p:cNvPicPr>
            <a:picLocks noChangeAspect="1"/>
          </p:cNvPicPr>
          <p:nvPr/>
        </p:nvPicPr>
        <p:blipFill>
          <a:blip r:embed="rId4"/>
          <a:stretch>
            <a:fillRect/>
          </a:stretch>
        </p:blipFill>
        <p:spPr>
          <a:xfrm>
            <a:off x="588508" y="4666732"/>
            <a:ext cx="304312" cy="304312"/>
          </a:xfrm>
          <a:prstGeom prst="rect">
            <a:avLst/>
          </a:prstGeom>
        </p:spPr>
      </p:pic>
      <p:sp>
        <p:nvSpPr>
          <p:cNvPr id="20" name="Text 14"/>
          <p:cNvSpPr txBox="1"/>
          <p:nvPr/>
        </p:nvSpPr>
        <p:spPr>
          <a:xfrm>
            <a:off x="1161288" y="4434840"/>
            <a:ext cx="45079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Measurable remediation</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Before / after compare: same server scored 0, then 100, in our lab.</a:t>
            </a:r>
            <a:endParaRPr lang="en-US" sz="1350" dirty="0"/>
          </a:p>
        </p:txBody>
      </p:sp>
      <p:sp>
        <p:nvSpPr>
          <p:cNvPr id="21" name="Shape 15"/>
          <p:cNvSpPr/>
          <p:nvPr/>
        </p:nvSpPr>
        <p:spPr>
          <a:xfrm>
            <a:off x="320040" y="5376672"/>
            <a:ext cx="5440680" cy="841248"/>
          </a:xfrm>
          <a:prstGeom prst="roundRect">
            <a:avLst>
              <a:gd name="adj" fmla="val 8696"/>
            </a:avLst>
          </a:prstGeom>
          <a:solidFill>
            <a:srgbClr val="EEF2F8"/>
          </a:solidFill>
          <a:ln w="15875">
            <a:solidFill>
              <a:srgbClr val="13233F"/>
            </a:solidFill>
            <a:prstDash val="solid"/>
          </a:ln>
        </p:spPr>
      </p:sp>
      <p:sp>
        <p:nvSpPr>
          <p:cNvPr id="22" name="Shape 16"/>
          <p:cNvSpPr/>
          <p:nvPr/>
        </p:nvSpPr>
        <p:spPr>
          <a:xfrm>
            <a:off x="448056" y="5504688"/>
            <a:ext cx="585216" cy="585216"/>
          </a:xfrm>
          <a:prstGeom prst="ellipse">
            <a:avLst/>
          </a:prstGeom>
          <a:solidFill>
            <a:srgbClr val="13233F"/>
          </a:solidFill>
          <a:ln w="12700">
            <a:solidFill>
              <a:srgbClr val="13233F"/>
            </a:solidFill>
            <a:prstDash val="solid"/>
          </a:ln>
        </p:spPr>
      </p:sp>
      <p:pic>
        <p:nvPicPr>
          <p:cNvPr id="23" name="Image 4" descr="preencoded.png">    </p:cNvPr>
          <p:cNvPicPr>
            <a:picLocks noChangeAspect="1"/>
          </p:cNvPicPr>
          <p:nvPr/>
        </p:nvPicPr>
        <p:blipFill>
          <a:blip r:embed="rId5"/>
          <a:stretch>
            <a:fillRect/>
          </a:stretch>
        </p:blipFill>
        <p:spPr>
          <a:xfrm>
            <a:off x="588508" y="5645140"/>
            <a:ext cx="304312" cy="304312"/>
          </a:xfrm>
          <a:prstGeom prst="rect">
            <a:avLst/>
          </a:prstGeom>
        </p:spPr>
      </p:pic>
      <p:sp>
        <p:nvSpPr>
          <p:cNvPr id="24" name="Text 17"/>
          <p:cNvSpPr txBox="1"/>
          <p:nvPr/>
        </p:nvSpPr>
        <p:spPr>
          <a:xfrm>
            <a:off x="1161288" y="5413248"/>
            <a:ext cx="45079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Privacy-preserving sharing</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Redacted reports and STIX 2.1 observations for CERT exchange.</a:t>
            </a:r>
            <a:endParaRPr lang="en-US" sz="1350" dirty="0"/>
          </a:p>
        </p:txBody>
      </p:sp>
      <p:sp>
        <p:nvSpPr>
          <p:cNvPr id="25" name="Shape 18"/>
          <p:cNvSpPr/>
          <p:nvPr/>
        </p:nvSpPr>
        <p:spPr>
          <a:xfrm>
            <a:off x="5989320" y="1463040"/>
            <a:ext cx="5897880" cy="841248"/>
          </a:xfrm>
          <a:prstGeom prst="roundRect">
            <a:avLst>
              <a:gd name="adj" fmla="val 8696"/>
            </a:avLst>
          </a:prstGeom>
          <a:solidFill>
            <a:srgbClr val="EDF6F0"/>
          </a:solidFill>
          <a:ln w="15875">
            <a:solidFill>
              <a:srgbClr val="1E7F3E"/>
            </a:solidFill>
            <a:prstDash val="solid"/>
          </a:ln>
        </p:spPr>
      </p:sp>
      <p:sp>
        <p:nvSpPr>
          <p:cNvPr id="26" name="Shape 19"/>
          <p:cNvSpPr/>
          <p:nvPr/>
        </p:nvSpPr>
        <p:spPr>
          <a:xfrm>
            <a:off x="6117336" y="1591056"/>
            <a:ext cx="585216" cy="585216"/>
          </a:xfrm>
          <a:prstGeom prst="ellipse">
            <a:avLst/>
          </a:prstGeom>
          <a:solidFill>
            <a:srgbClr val="1E7F3E"/>
          </a:solidFill>
          <a:ln w="12700">
            <a:solidFill>
              <a:srgbClr val="1E7F3E"/>
            </a:solidFill>
            <a:prstDash val="solid"/>
          </a:ln>
        </p:spPr>
      </p:sp>
      <p:pic>
        <p:nvPicPr>
          <p:cNvPr id="27" name="Image 5" descr="preencoded.png">    </p:cNvPr>
          <p:cNvPicPr>
            <a:picLocks noChangeAspect="1"/>
          </p:cNvPicPr>
          <p:nvPr/>
        </p:nvPicPr>
        <p:blipFill>
          <a:blip r:embed="rId6"/>
          <a:stretch>
            <a:fillRect/>
          </a:stretch>
        </p:blipFill>
        <p:spPr>
          <a:xfrm>
            <a:off x="6257788" y="1731508"/>
            <a:ext cx="304312" cy="304312"/>
          </a:xfrm>
          <a:prstGeom prst="rect">
            <a:avLst/>
          </a:prstGeom>
        </p:spPr>
      </p:pic>
      <p:sp>
        <p:nvSpPr>
          <p:cNvPr id="28" name="Text 20"/>
          <p:cNvSpPr txBox="1"/>
          <p:nvPr/>
        </p:nvSpPr>
        <p:spPr>
          <a:xfrm>
            <a:off x="6830568" y="1499616"/>
            <a:ext cx="49651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Zero risk to production</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Fully passive: no scanning, no decryption, no traffic generated.</a:t>
            </a:r>
            <a:endParaRPr lang="en-US" sz="1350" dirty="0"/>
          </a:p>
        </p:txBody>
      </p:sp>
      <p:sp>
        <p:nvSpPr>
          <p:cNvPr id="29" name="Shape 21"/>
          <p:cNvSpPr/>
          <p:nvPr/>
        </p:nvSpPr>
        <p:spPr>
          <a:xfrm>
            <a:off x="5989320" y="2441448"/>
            <a:ext cx="5897880" cy="841248"/>
          </a:xfrm>
          <a:prstGeom prst="roundRect">
            <a:avLst>
              <a:gd name="adj" fmla="val 8696"/>
            </a:avLst>
          </a:prstGeom>
          <a:solidFill>
            <a:srgbClr val="EDF6F0"/>
          </a:solidFill>
          <a:ln w="15875">
            <a:solidFill>
              <a:srgbClr val="1E7F3E"/>
            </a:solidFill>
            <a:prstDash val="solid"/>
          </a:ln>
        </p:spPr>
      </p:sp>
      <p:sp>
        <p:nvSpPr>
          <p:cNvPr id="30" name="Shape 22"/>
          <p:cNvSpPr/>
          <p:nvPr/>
        </p:nvSpPr>
        <p:spPr>
          <a:xfrm>
            <a:off x="6117336" y="2569464"/>
            <a:ext cx="585216" cy="585216"/>
          </a:xfrm>
          <a:prstGeom prst="ellipse">
            <a:avLst/>
          </a:prstGeom>
          <a:solidFill>
            <a:srgbClr val="1E7F3E"/>
          </a:solidFill>
          <a:ln w="12700">
            <a:solidFill>
              <a:srgbClr val="1E7F3E"/>
            </a:solidFill>
            <a:prstDash val="solid"/>
          </a:ln>
        </p:spPr>
      </p:sp>
      <p:pic>
        <p:nvPicPr>
          <p:cNvPr id="31" name="Image 6" descr="preencoded.png">    </p:cNvPr>
          <p:cNvPicPr>
            <a:picLocks noChangeAspect="1"/>
          </p:cNvPicPr>
          <p:nvPr/>
        </p:nvPicPr>
        <p:blipFill>
          <a:blip r:embed="rId7"/>
          <a:stretch>
            <a:fillRect/>
          </a:stretch>
        </p:blipFill>
        <p:spPr>
          <a:xfrm>
            <a:off x="6257788" y="2709916"/>
            <a:ext cx="304312" cy="304312"/>
          </a:xfrm>
          <a:prstGeom prst="rect">
            <a:avLst/>
          </a:prstGeom>
        </p:spPr>
      </p:pic>
      <p:sp>
        <p:nvSpPr>
          <p:cNvPr id="32" name="Text 23"/>
          <p:cNvSpPr txBox="1"/>
          <p:nvPr/>
        </p:nvSpPr>
        <p:spPr>
          <a:xfrm>
            <a:off x="6830568" y="2478024"/>
            <a:ext cx="49651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Works offline / air-gapped</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Single-laptop deployment for sensitive environments.</a:t>
            </a:r>
            <a:endParaRPr lang="en-US" sz="1350" dirty="0"/>
          </a:p>
        </p:txBody>
      </p:sp>
      <p:sp>
        <p:nvSpPr>
          <p:cNvPr id="33" name="Shape 24"/>
          <p:cNvSpPr/>
          <p:nvPr/>
        </p:nvSpPr>
        <p:spPr>
          <a:xfrm>
            <a:off x="5989320" y="3419856"/>
            <a:ext cx="5897880" cy="841248"/>
          </a:xfrm>
          <a:prstGeom prst="roundRect">
            <a:avLst>
              <a:gd name="adj" fmla="val 8696"/>
            </a:avLst>
          </a:prstGeom>
          <a:solidFill>
            <a:srgbClr val="EDF6F0"/>
          </a:solidFill>
          <a:ln w="15875">
            <a:solidFill>
              <a:srgbClr val="1E7F3E"/>
            </a:solidFill>
            <a:prstDash val="solid"/>
          </a:ln>
        </p:spPr>
      </p:sp>
      <p:sp>
        <p:nvSpPr>
          <p:cNvPr id="34" name="Shape 25"/>
          <p:cNvSpPr/>
          <p:nvPr/>
        </p:nvSpPr>
        <p:spPr>
          <a:xfrm>
            <a:off x="6117336" y="3547872"/>
            <a:ext cx="585216" cy="585216"/>
          </a:xfrm>
          <a:prstGeom prst="ellipse">
            <a:avLst/>
          </a:prstGeom>
          <a:solidFill>
            <a:srgbClr val="1E7F3E"/>
          </a:solidFill>
          <a:ln w="12700">
            <a:solidFill>
              <a:srgbClr val="1E7F3E"/>
            </a:solidFill>
            <a:prstDash val="solid"/>
          </a:ln>
        </p:spPr>
      </p:sp>
      <p:pic>
        <p:nvPicPr>
          <p:cNvPr id="35" name="Image 7" descr="preencoded.png">    </p:cNvPr>
          <p:cNvPicPr>
            <a:picLocks noChangeAspect="1"/>
          </p:cNvPicPr>
          <p:nvPr/>
        </p:nvPicPr>
        <p:blipFill>
          <a:blip r:embed="rId8"/>
          <a:stretch>
            <a:fillRect/>
          </a:stretch>
        </p:blipFill>
        <p:spPr>
          <a:xfrm>
            <a:off x="6257788" y="3688324"/>
            <a:ext cx="304312" cy="304312"/>
          </a:xfrm>
          <a:prstGeom prst="rect">
            <a:avLst/>
          </a:prstGeom>
        </p:spPr>
      </p:pic>
      <p:sp>
        <p:nvSpPr>
          <p:cNvPr id="36" name="Text 26"/>
          <p:cNvSpPr txBox="1"/>
          <p:nvPr/>
        </p:nvSpPr>
        <p:spPr>
          <a:xfrm>
            <a:off x="6830568" y="3456432"/>
            <a:ext cx="49651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Explainable results</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'Why am I seeing this?' with evidence, recommendation and effect.</a:t>
            </a:r>
            <a:endParaRPr lang="en-US" sz="1350" dirty="0"/>
          </a:p>
        </p:txBody>
      </p:sp>
      <p:sp>
        <p:nvSpPr>
          <p:cNvPr id="37" name="Shape 27"/>
          <p:cNvSpPr/>
          <p:nvPr/>
        </p:nvSpPr>
        <p:spPr>
          <a:xfrm>
            <a:off x="5989320" y="4398264"/>
            <a:ext cx="5897880" cy="841248"/>
          </a:xfrm>
          <a:prstGeom prst="roundRect">
            <a:avLst>
              <a:gd name="adj" fmla="val 8696"/>
            </a:avLst>
          </a:prstGeom>
          <a:solidFill>
            <a:srgbClr val="EDF6F0"/>
          </a:solidFill>
          <a:ln w="15875">
            <a:solidFill>
              <a:srgbClr val="1E7F3E"/>
            </a:solidFill>
            <a:prstDash val="solid"/>
          </a:ln>
        </p:spPr>
      </p:sp>
      <p:sp>
        <p:nvSpPr>
          <p:cNvPr id="38" name="Shape 28"/>
          <p:cNvSpPr/>
          <p:nvPr/>
        </p:nvSpPr>
        <p:spPr>
          <a:xfrm>
            <a:off x="6117336" y="4526280"/>
            <a:ext cx="585216" cy="585216"/>
          </a:xfrm>
          <a:prstGeom prst="ellipse">
            <a:avLst/>
          </a:prstGeom>
          <a:solidFill>
            <a:srgbClr val="1E7F3E"/>
          </a:solidFill>
          <a:ln w="12700">
            <a:solidFill>
              <a:srgbClr val="1E7F3E"/>
            </a:solidFill>
            <a:prstDash val="solid"/>
          </a:ln>
        </p:spPr>
      </p:sp>
      <p:pic>
        <p:nvPicPr>
          <p:cNvPr id="39" name="Image 8" descr="preencoded.png">    </p:cNvPr>
          <p:cNvPicPr>
            <a:picLocks noChangeAspect="1"/>
          </p:cNvPicPr>
          <p:nvPr/>
        </p:nvPicPr>
        <p:blipFill>
          <a:blip r:embed="rId9"/>
          <a:stretch>
            <a:fillRect/>
          </a:stretch>
        </p:blipFill>
        <p:spPr>
          <a:xfrm>
            <a:off x="6257788" y="4666732"/>
            <a:ext cx="304312" cy="304312"/>
          </a:xfrm>
          <a:prstGeom prst="rect">
            <a:avLst/>
          </a:prstGeom>
        </p:spPr>
      </p:pic>
      <p:sp>
        <p:nvSpPr>
          <p:cNvPr id="40" name="Text 29"/>
          <p:cNvSpPr txBox="1"/>
          <p:nvPr/>
        </p:nvSpPr>
        <p:spPr>
          <a:xfrm>
            <a:off x="6830568" y="4434840"/>
            <a:ext cx="49651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Fits each organisation</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Balanced, strict and legacy-audit policy profiles.</a:t>
            </a:r>
            <a:endParaRPr lang="en-US" sz="1350" dirty="0"/>
          </a:p>
        </p:txBody>
      </p:sp>
      <p:sp>
        <p:nvSpPr>
          <p:cNvPr id="41" name="Shape 30"/>
          <p:cNvSpPr/>
          <p:nvPr/>
        </p:nvSpPr>
        <p:spPr>
          <a:xfrm>
            <a:off x="5989320" y="5376672"/>
            <a:ext cx="5897880" cy="841248"/>
          </a:xfrm>
          <a:prstGeom prst="roundRect">
            <a:avLst>
              <a:gd name="adj" fmla="val 8696"/>
            </a:avLst>
          </a:prstGeom>
          <a:solidFill>
            <a:srgbClr val="EDF6F0"/>
          </a:solidFill>
          <a:ln w="15875">
            <a:solidFill>
              <a:srgbClr val="1E7F3E"/>
            </a:solidFill>
            <a:prstDash val="solid"/>
          </a:ln>
        </p:spPr>
      </p:sp>
      <p:sp>
        <p:nvSpPr>
          <p:cNvPr id="42" name="Shape 31"/>
          <p:cNvSpPr/>
          <p:nvPr/>
        </p:nvSpPr>
        <p:spPr>
          <a:xfrm>
            <a:off x="6117336" y="5504688"/>
            <a:ext cx="585216" cy="585216"/>
          </a:xfrm>
          <a:prstGeom prst="ellipse">
            <a:avLst/>
          </a:prstGeom>
          <a:solidFill>
            <a:srgbClr val="1E7F3E"/>
          </a:solidFill>
          <a:ln w="12700">
            <a:solidFill>
              <a:srgbClr val="1E7F3E"/>
            </a:solidFill>
            <a:prstDash val="solid"/>
          </a:ln>
        </p:spPr>
      </p:sp>
      <p:pic>
        <p:nvPicPr>
          <p:cNvPr id="43" name="Image 9" descr="preencoded.png">    </p:cNvPr>
          <p:cNvPicPr>
            <a:picLocks noChangeAspect="1"/>
          </p:cNvPicPr>
          <p:nvPr/>
        </p:nvPicPr>
        <p:blipFill>
          <a:blip r:embed="rId10"/>
          <a:stretch>
            <a:fillRect/>
          </a:stretch>
        </p:blipFill>
        <p:spPr>
          <a:xfrm>
            <a:off x="6257788" y="5645140"/>
            <a:ext cx="304312" cy="304312"/>
          </a:xfrm>
          <a:prstGeom prst="rect">
            <a:avLst/>
          </a:prstGeom>
        </p:spPr>
      </p:pic>
      <p:sp>
        <p:nvSpPr>
          <p:cNvPr id="44" name="Text 32"/>
          <p:cNvSpPr txBox="1"/>
          <p:nvPr/>
        </p:nvSpPr>
        <p:spPr>
          <a:xfrm>
            <a:off x="6830568" y="5413248"/>
            <a:ext cx="4965192" cy="768096"/>
          </a:xfrm>
          <a:prstGeom prst="rect">
            <a:avLst/>
          </a:prstGeom>
          <a:noFill/>
          <a:ln/>
        </p:spPr>
        <p:txBody>
          <a:bodyPr wrap="square" lIns="0" tIns="0" rIns="0" bIns="0" rtlCol="0" anchor="ctr"/>
          <a:lstStyle/>
          <a:p>
            <a:pPr indent="0" marL="0">
              <a:buNone/>
            </a:pPr>
            <a:r>
              <a:rPr lang="en-US" sz="1350" b="1" dirty="0">
                <a:solidFill>
                  <a:srgbClr val="16202E"/>
                </a:solidFill>
                <a:latin typeface="Arial" pitchFamily="34" charset="0"/>
                <a:ea typeface="Arial" pitchFamily="34" charset="-122"/>
                <a:cs typeface="Arial" pitchFamily="34" charset="-120"/>
              </a:rPr>
              <a:t>Low cost</a:t>
            </a:r>
            <a:endParaRPr lang="en-US" sz="1350" dirty="0"/>
          </a:p>
          <a:p>
            <a:pPr indent="0" marL="0">
              <a:buNone/>
            </a:pPr>
            <a:r>
              <a:rPr lang="en-US" sz="1100" dirty="0">
                <a:solidFill>
                  <a:srgbClr val="465468"/>
                </a:solidFill>
                <a:latin typeface="Arial" pitchFamily="34" charset="0"/>
                <a:ea typeface="Arial" pitchFamily="34" charset="-122"/>
                <a:cs typeface="Arial" pitchFamily="34" charset="-120"/>
              </a:rPr>
              <a:t>Open-source stack; no licences or cloud services required.</a:t>
            </a:r>
            <a:endParaRPr lang="en-US" sz="135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148840" y="164592"/>
            <a:ext cx="7818120" cy="713232"/>
          </a:xfrm>
          <a:prstGeom prst="rect">
            <a:avLst/>
          </a:prstGeom>
          <a:noFill/>
          <a:ln/>
        </p:spPr>
        <p:txBody>
          <a:bodyPr wrap="square" lIns="0" tIns="0" rIns="0" bIns="0" rtlCol="0" anchor="ctr"/>
          <a:lstStyle/>
          <a:p>
            <a:pPr algn="ctr" indent="0" marL="0">
              <a:buNone/>
            </a:pPr>
            <a:r>
              <a:rPr lang="en-US" sz="2800" b="1" dirty="0">
                <a:solidFill>
                  <a:srgbClr val="16202E"/>
                </a:solidFill>
                <a:latin typeface="Times New Roman" pitchFamily="34" charset="0"/>
                <a:ea typeface="Times New Roman" pitchFamily="34" charset="-122"/>
                <a:cs typeface="Times New Roman" pitchFamily="34" charset="-120"/>
              </a:rPr>
              <a:t>COMPARISON WITH EXISTING SOLUTIONS</a:t>
            </a:r>
            <a:endParaRPr lang="en-US" sz="2800" dirty="0"/>
          </a:p>
        </p:txBody>
      </p:sp>
      <p:sp>
        <p:nvSpPr>
          <p:cNvPr id="3" name="Shape 1"/>
          <p:cNvSpPr/>
          <p:nvPr/>
        </p:nvSpPr>
        <p:spPr>
          <a:xfrm>
            <a:off x="274320" y="1024128"/>
            <a:ext cx="8321040" cy="4561141"/>
          </a:xfrm>
          <a:prstGeom prst="rect">
            <a:avLst/>
          </a:prstGeom>
          <a:solidFill>
            <a:srgbClr val="FFFFFF"/>
          </a:solidFill>
          <a:ln w="12700">
            <a:solidFill>
              <a:srgbClr val="C9D2DE"/>
            </a:solidFill>
            <a:prstDash val="solid"/>
          </a:ln>
          <a:effectLst>
            <a:outerShdw sx="100000" sy="100000" kx="0" ky="0" algn="bl" rotWithShape="0" blurRad="76200" dist="25400" dir="5400000">
              <a:srgbClr val="000000">
                <a:alpha val="15000"/>
              </a:srgbClr>
            </a:outerShdw>
          </a:effectLst>
        </p:spPr>
      </p:sp>
      <p:pic>
        <p:nvPicPr>
          <p:cNvPr id="4" name="Image 0" descr="C:\Users\kshit\AppData\Local\Temp\claude\C--Users-kshit\d25148f4-3556-4be3-88ed-11744b3548ab\scratchpad\ppt\assets\comparison.png">    </p:cNvPr>
          <p:cNvPicPr>
            <a:picLocks noChangeAspect="1"/>
          </p:cNvPicPr>
          <p:nvPr/>
        </p:nvPicPr>
        <p:blipFill>
          <a:blip r:embed="rId1"/>
          <a:stretch>
            <a:fillRect/>
          </a:stretch>
        </p:blipFill>
        <p:spPr>
          <a:xfrm>
            <a:off x="320040" y="1069848"/>
            <a:ext cx="8229600" cy="4469702"/>
          </a:xfrm>
          <a:prstGeom prst="rect">
            <a:avLst/>
          </a:prstGeom>
        </p:spPr>
      </p:pic>
      <p:sp>
        <p:nvSpPr>
          <p:cNvPr id="5" name="Shape 2"/>
          <p:cNvSpPr/>
          <p:nvPr/>
        </p:nvSpPr>
        <p:spPr>
          <a:xfrm>
            <a:off x="274320" y="5768150"/>
            <a:ext cx="8321040" cy="566928"/>
          </a:xfrm>
          <a:prstGeom prst="roundRect">
            <a:avLst>
              <a:gd name="adj" fmla="val 12903"/>
            </a:avLst>
          </a:prstGeom>
          <a:solidFill>
            <a:srgbClr val="13233F"/>
          </a:solidFill>
          <a:ln w="12700">
            <a:solidFill>
              <a:srgbClr val="13233F"/>
            </a:solidFill>
            <a:prstDash val="solid"/>
          </a:ln>
        </p:spPr>
      </p:sp>
      <p:sp>
        <p:nvSpPr>
          <p:cNvPr id="6" name="Text 3"/>
          <p:cNvSpPr txBox="1"/>
          <p:nvPr/>
        </p:nvSpPr>
        <p:spPr>
          <a:xfrm>
            <a:off x="411480" y="5768150"/>
            <a:ext cx="8046720" cy="566928"/>
          </a:xfrm>
          <a:prstGeom prst="rect">
            <a:avLst/>
          </a:prstGeom>
          <a:noFill/>
          <a:ln/>
        </p:spPr>
        <p:txBody>
          <a:bodyPr wrap="square" lIns="0" tIns="0" rIns="0" bIns="0"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Existing tools either </a:t>
            </a:r>
            <a:pPr algn="ctr" indent="0" marL="0">
              <a:buNone/>
            </a:pPr>
            <a:r>
              <a:rPr lang="en-US" sz="1250" b="1" dirty="0">
                <a:solidFill>
                  <a:srgbClr val="A9CBFF"/>
                </a:solidFill>
                <a:latin typeface="Arial" pitchFamily="34" charset="0"/>
                <a:ea typeface="Arial" pitchFamily="34" charset="-122"/>
                <a:cs typeface="Arial" pitchFamily="34" charset="-120"/>
              </a:rPr>
              <a:t>see the traffic</a:t>
            </a:r>
            <a:pPr algn="ctr" indent="0" marL="0">
              <a:buNone/>
            </a:pPr>
            <a:r>
              <a:rPr lang="en-US" sz="1250" dirty="0">
                <a:solidFill>
                  <a:srgbClr val="FFFFFF"/>
                </a:solidFill>
                <a:latin typeface="Arial" pitchFamily="34" charset="0"/>
                <a:ea typeface="Arial" pitchFamily="34" charset="-122"/>
                <a:cs typeface="Arial" pitchFamily="34" charset="-120"/>
              </a:rPr>
              <a:t> or </a:t>
            </a:r>
            <a:pPr algn="ctr" indent="0" marL="0">
              <a:buNone/>
            </a:pPr>
            <a:r>
              <a:rPr lang="en-US" sz="1250" b="1" dirty="0">
                <a:solidFill>
                  <a:srgbClr val="A9CBFF"/>
                </a:solidFill>
                <a:latin typeface="Arial" pitchFamily="34" charset="0"/>
                <a:ea typeface="Arial" pitchFamily="34" charset="-122"/>
                <a:cs typeface="Arial" pitchFamily="34" charset="-120"/>
              </a:rPr>
              <a:t>grade live servers</a:t>
            </a:r>
            <a:pPr algn="ctr" indent="0" marL="0">
              <a:buNone/>
            </a:pPr>
            <a:r>
              <a:rPr lang="en-US" sz="1250" dirty="0">
                <a:solidFill>
                  <a:srgbClr val="FFFFFF"/>
                </a:solidFill>
                <a:latin typeface="Arial" pitchFamily="34" charset="0"/>
                <a:ea typeface="Arial" pitchFamily="34" charset="-122"/>
                <a:cs typeface="Arial" pitchFamily="34" charset="-120"/>
              </a:rPr>
              <a:t>. SecureMailScope does both </a:t>
            </a:r>
            <a:pPr algn="ctr" indent="0" marL="0">
              <a:buNone/>
            </a:pPr>
            <a:r>
              <a:rPr lang="en-US" sz="1250" b="1" dirty="0">
                <a:solidFill>
                  <a:srgbClr val="A9CBFF"/>
                </a:solidFill>
                <a:latin typeface="Arial" pitchFamily="34" charset="0"/>
                <a:ea typeface="Arial" pitchFamily="34" charset="-122"/>
                <a:cs typeface="Arial" pitchFamily="34" charset="-120"/>
              </a:rPr>
              <a:t>from a stored capture</a:t>
            </a:r>
            <a:pPr algn="ctr" indent="0" marL="0">
              <a:buNone/>
            </a:pPr>
            <a:r>
              <a:rPr lang="en-US" sz="1250" dirty="0">
                <a:solidFill>
                  <a:srgbClr val="FFFFFF"/>
                </a:solidFill>
                <a:latin typeface="Arial" pitchFamily="34" charset="0"/>
                <a:ea typeface="Arial" pitchFamily="34" charset="-122"/>
                <a:cs typeface="Arial" pitchFamily="34" charset="-120"/>
              </a:rPr>
              <a:t>, with evidence for every finding.</a:t>
            </a:r>
            <a:endParaRPr lang="en-US" sz="1250" dirty="0"/>
          </a:p>
        </p:txBody>
      </p:sp>
      <p:sp>
        <p:nvSpPr>
          <p:cNvPr id="7" name="Text 4"/>
          <p:cNvSpPr txBox="1"/>
          <p:nvPr/>
        </p:nvSpPr>
        <p:spPr>
          <a:xfrm>
            <a:off x="8778240" y="1005840"/>
            <a:ext cx="3127248" cy="384048"/>
          </a:xfrm>
          <a:prstGeom prst="rect">
            <a:avLst/>
          </a:prstGeom>
          <a:noFill/>
          <a:ln/>
        </p:spPr>
        <p:txBody>
          <a:bodyPr wrap="square" lIns="0" tIns="0" rIns="0" bIns="0" rtlCol="0" anchor="ctr"/>
          <a:lstStyle/>
          <a:p>
            <a:pPr indent="0" marL="0">
              <a:buNone/>
            </a:pPr>
            <a:r>
              <a:rPr lang="en-US" sz="1500" b="1" dirty="0">
                <a:solidFill>
                  <a:srgbClr val="1F5AA6"/>
                </a:solidFill>
                <a:latin typeface="Arial" pitchFamily="34" charset="0"/>
                <a:ea typeface="Arial" pitchFamily="34" charset="-122"/>
                <a:cs typeface="Arial" pitchFamily="34" charset="-120"/>
              </a:rPr>
              <a:t>Why SecureMailScope is better</a:t>
            </a:r>
            <a:endParaRPr lang="en-US" sz="1500" dirty="0"/>
          </a:p>
        </p:txBody>
      </p:sp>
      <p:sp>
        <p:nvSpPr>
          <p:cNvPr id="8" name="Shape 5"/>
          <p:cNvSpPr/>
          <p:nvPr/>
        </p:nvSpPr>
        <p:spPr>
          <a:xfrm>
            <a:off x="8778240" y="1463040"/>
            <a:ext cx="3127248" cy="1078992"/>
          </a:xfrm>
          <a:prstGeom prst="roundRect">
            <a:avLst>
              <a:gd name="adj" fmla="val 6780"/>
            </a:avLst>
          </a:prstGeom>
          <a:solidFill>
            <a:srgbClr val="EAF1FB"/>
          </a:solidFill>
          <a:ln w="12700">
            <a:solidFill>
              <a:srgbClr val="1F5AA6"/>
            </a:solidFill>
            <a:prstDash val="solid"/>
          </a:ln>
        </p:spPr>
      </p:sp>
      <p:sp>
        <p:nvSpPr>
          <p:cNvPr id="9" name="Shape 6"/>
          <p:cNvSpPr/>
          <p:nvPr/>
        </p:nvSpPr>
        <p:spPr>
          <a:xfrm>
            <a:off x="8887968" y="1591056"/>
            <a:ext cx="475488" cy="475488"/>
          </a:xfrm>
          <a:prstGeom prst="ellipse">
            <a:avLst/>
          </a:prstGeom>
          <a:solidFill>
            <a:srgbClr val="1F5AA6"/>
          </a:solidFill>
          <a:ln w="12700">
            <a:solidFill>
              <a:srgbClr val="1F5AA6"/>
            </a:solidFill>
            <a:prstDash val="solid"/>
          </a:ln>
        </p:spPr>
      </p:sp>
      <p:pic>
        <p:nvPicPr>
          <p:cNvPr id="10" name="Image 1" descr="preencoded.png">    </p:cNvPr>
          <p:cNvPicPr>
            <a:picLocks noChangeAspect="1"/>
          </p:cNvPicPr>
          <p:nvPr/>
        </p:nvPicPr>
        <p:blipFill>
          <a:blip r:embed="rId2"/>
          <a:stretch>
            <a:fillRect/>
          </a:stretch>
        </p:blipFill>
        <p:spPr>
          <a:xfrm>
            <a:off x="9002085" y="1705173"/>
            <a:ext cx="247254" cy="247254"/>
          </a:xfrm>
          <a:prstGeom prst="rect">
            <a:avLst/>
          </a:prstGeom>
        </p:spPr>
      </p:pic>
      <p:sp>
        <p:nvSpPr>
          <p:cNvPr id="11" name="Text 7"/>
          <p:cNvSpPr txBox="1"/>
          <p:nvPr/>
        </p:nvSpPr>
        <p:spPr>
          <a:xfrm>
            <a:off x="9454896" y="1517904"/>
            <a:ext cx="2377440" cy="969264"/>
          </a:xfrm>
          <a:prstGeom prst="rect">
            <a:avLst/>
          </a:prstGeom>
          <a:noFill/>
          <a:ln/>
        </p:spPr>
        <p:txBody>
          <a:bodyPr wrap="square" lIns="0" tIns="0" rIns="0" bIns="0" rtlCol="0" anchor="ctr"/>
          <a:lstStyle/>
          <a:p>
            <a:pPr indent="0" marL="0">
              <a:buNone/>
            </a:pPr>
            <a:r>
              <a:rPr lang="en-US" sz="1250" b="1" dirty="0">
                <a:solidFill>
                  <a:srgbClr val="13233F"/>
                </a:solidFill>
                <a:latin typeface="Arial" pitchFamily="34" charset="0"/>
                <a:ea typeface="Arial" pitchFamily="34" charset="-122"/>
                <a:cs typeface="Arial" pitchFamily="34" charset="-120"/>
              </a:rPr>
              <a:t>Two worlds in one tool</a:t>
            </a:r>
            <a:endParaRPr lang="en-US" sz="1250" dirty="0"/>
          </a:p>
          <a:p>
            <a:pPr indent="0" marL="0">
              <a:buNone/>
            </a:pPr>
            <a:r>
              <a:rPr lang="en-US" sz="1000" dirty="0">
                <a:solidFill>
                  <a:srgbClr val="465468"/>
                </a:solidFill>
                <a:latin typeface="Arial" pitchFamily="34" charset="0"/>
                <a:ea typeface="Arial" pitchFamily="34" charset="-122"/>
                <a:cs typeface="Arial" pitchFamily="34" charset="-120"/>
              </a:rPr>
              <a:t>Passive like packet analysers, judging posture like TLS scanners.</a:t>
            </a:r>
            <a:endParaRPr lang="en-US" sz="1250" dirty="0"/>
          </a:p>
        </p:txBody>
      </p:sp>
      <p:sp>
        <p:nvSpPr>
          <p:cNvPr id="12" name="Shape 8"/>
          <p:cNvSpPr/>
          <p:nvPr/>
        </p:nvSpPr>
        <p:spPr>
          <a:xfrm>
            <a:off x="8778240" y="2651760"/>
            <a:ext cx="3127248" cy="1078992"/>
          </a:xfrm>
          <a:prstGeom prst="roundRect">
            <a:avLst>
              <a:gd name="adj" fmla="val 6780"/>
            </a:avLst>
          </a:prstGeom>
          <a:solidFill>
            <a:srgbClr val="EAF1FB"/>
          </a:solidFill>
          <a:ln w="12700">
            <a:solidFill>
              <a:srgbClr val="1F5AA6"/>
            </a:solidFill>
            <a:prstDash val="solid"/>
          </a:ln>
        </p:spPr>
      </p:sp>
      <p:sp>
        <p:nvSpPr>
          <p:cNvPr id="13" name="Shape 9"/>
          <p:cNvSpPr/>
          <p:nvPr/>
        </p:nvSpPr>
        <p:spPr>
          <a:xfrm>
            <a:off x="8887968" y="2779776"/>
            <a:ext cx="475488" cy="475488"/>
          </a:xfrm>
          <a:prstGeom prst="ellipse">
            <a:avLst/>
          </a:prstGeom>
          <a:solidFill>
            <a:srgbClr val="1F5AA6"/>
          </a:solidFill>
          <a:ln w="12700">
            <a:solidFill>
              <a:srgbClr val="1F5AA6"/>
            </a:solidFill>
            <a:prstDash val="solid"/>
          </a:ln>
        </p:spPr>
      </p:sp>
      <p:pic>
        <p:nvPicPr>
          <p:cNvPr id="14" name="Image 2" descr="preencoded.png">    </p:cNvPr>
          <p:cNvPicPr>
            <a:picLocks noChangeAspect="1"/>
          </p:cNvPicPr>
          <p:nvPr/>
        </p:nvPicPr>
        <p:blipFill>
          <a:blip r:embed="rId3"/>
          <a:stretch>
            <a:fillRect/>
          </a:stretch>
        </p:blipFill>
        <p:spPr>
          <a:xfrm>
            <a:off x="9002085" y="2893893"/>
            <a:ext cx="247254" cy="247254"/>
          </a:xfrm>
          <a:prstGeom prst="rect">
            <a:avLst/>
          </a:prstGeom>
        </p:spPr>
      </p:pic>
      <p:sp>
        <p:nvSpPr>
          <p:cNvPr id="15" name="Text 10"/>
          <p:cNvSpPr txBox="1"/>
          <p:nvPr/>
        </p:nvSpPr>
        <p:spPr>
          <a:xfrm>
            <a:off x="9454896" y="2706624"/>
            <a:ext cx="2377440" cy="969264"/>
          </a:xfrm>
          <a:prstGeom prst="rect">
            <a:avLst/>
          </a:prstGeom>
          <a:noFill/>
          <a:ln/>
        </p:spPr>
        <p:txBody>
          <a:bodyPr wrap="square" lIns="0" tIns="0" rIns="0" bIns="0" rtlCol="0" anchor="ctr"/>
          <a:lstStyle/>
          <a:p>
            <a:pPr indent="0" marL="0">
              <a:buNone/>
            </a:pPr>
            <a:r>
              <a:rPr lang="en-US" sz="1250" b="1" dirty="0">
                <a:solidFill>
                  <a:srgbClr val="13233F"/>
                </a:solidFill>
                <a:latin typeface="Arial" pitchFamily="34" charset="0"/>
                <a:ea typeface="Arial" pitchFamily="34" charset="-122"/>
                <a:cs typeface="Arial" pitchFamily="34" charset="-120"/>
              </a:rPr>
              <a:t>Evidence you can defend</a:t>
            </a:r>
            <a:endParaRPr lang="en-US" sz="1250" dirty="0"/>
          </a:p>
          <a:p>
            <a:pPr indent="0" marL="0">
              <a:buNone/>
            </a:pPr>
            <a:r>
              <a:rPr lang="en-US" sz="1000" dirty="0">
                <a:solidFill>
                  <a:srgbClr val="465468"/>
                </a:solidFill>
                <a:latin typeface="Arial" pitchFamily="34" charset="0"/>
                <a:ea typeface="Arial" pitchFamily="34" charset="-122"/>
                <a:cs typeface="Arial" pitchFamily="34" charset="-120"/>
              </a:rPr>
              <a:t>Finding to session, certificate and packet frame, with capture hash.</a:t>
            </a:r>
            <a:endParaRPr lang="en-US" sz="1250" dirty="0"/>
          </a:p>
        </p:txBody>
      </p:sp>
      <p:sp>
        <p:nvSpPr>
          <p:cNvPr id="16" name="Shape 11"/>
          <p:cNvSpPr/>
          <p:nvPr/>
        </p:nvSpPr>
        <p:spPr>
          <a:xfrm>
            <a:off x="8778240" y="3840480"/>
            <a:ext cx="3127248" cy="1078992"/>
          </a:xfrm>
          <a:prstGeom prst="roundRect">
            <a:avLst>
              <a:gd name="adj" fmla="val 6780"/>
            </a:avLst>
          </a:prstGeom>
          <a:solidFill>
            <a:srgbClr val="EAF1FB"/>
          </a:solidFill>
          <a:ln w="12700">
            <a:solidFill>
              <a:srgbClr val="1F5AA6"/>
            </a:solidFill>
            <a:prstDash val="solid"/>
          </a:ln>
        </p:spPr>
      </p:sp>
      <p:sp>
        <p:nvSpPr>
          <p:cNvPr id="17" name="Shape 12"/>
          <p:cNvSpPr/>
          <p:nvPr/>
        </p:nvSpPr>
        <p:spPr>
          <a:xfrm>
            <a:off x="8887968" y="3968496"/>
            <a:ext cx="475488" cy="475488"/>
          </a:xfrm>
          <a:prstGeom prst="ellipse">
            <a:avLst/>
          </a:prstGeom>
          <a:solidFill>
            <a:srgbClr val="1F5AA6"/>
          </a:solidFill>
          <a:ln w="12700">
            <a:solidFill>
              <a:srgbClr val="1F5AA6"/>
            </a:solidFill>
            <a:prstDash val="solid"/>
          </a:ln>
        </p:spPr>
      </p:sp>
      <p:pic>
        <p:nvPicPr>
          <p:cNvPr id="18" name="Image 3" descr="preencoded.png">    </p:cNvPr>
          <p:cNvPicPr>
            <a:picLocks noChangeAspect="1"/>
          </p:cNvPicPr>
          <p:nvPr/>
        </p:nvPicPr>
        <p:blipFill>
          <a:blip r:embed="rId4"/>
          <a:stretch>
            <a:fillRect/>
          </a:stretch>
        </p:blipFill>
        <p:spPr>
          <a:xfrm>
            <a:off x="9002085" y="4082613"/>
            <a:ext cx="247254" cy="247254"/>
          </a:xfrm>
          <a:prstGeom prst="rect">
            <a:avLst/>
          </a:prstGeom>
        </p:spPr>
      </p:pic>
      <p:sp>
        <p:nvSpPr>
          <p:cNvPr id="19" name="Text 13"/>
          <p:cNvSpPr txBox="1"/>
          <p:nvPr/>
        </p:nvSpPr>
        <p:spPr>
          <a:xfrm>
            <a:off x="9454896" y="3895344"/>
            <a:ext cx="2377440" cy="969264"/>
          </a:xfrm>
          <a:prstGeom prst="rect">
            <a:avLst/>
          </a:prstGeom>
          <a:noFill/>
          <a:ln/>
        </p:spPr>
        <p:txBody>
          <a:bodyPr wrap="square" lIns="0" tIns="0" rIns="0" bIns="0" rtlCol="0" anchor="ctr"/>
          <a:lstStyle/>
          <a:p>
            <a:pPr indent="0" marL="0">
              <a:buNone/>
            </a:pPr>
            <a:r>
              <a:rPr lang="en-US" sz="1250" b="1" dirty="0">
                <a:solidFill>
                  <a:srgbClr val="13233F"/>
                </a:solidFill>
                <a:latin typeface="Arial" pitchFamily="34" charset="0"/>
                <a:ea typeface="Arial" pitchFamily="34" charset="-122"/>
                <a:cs typeface="Arial" pitchFamily="34" charset="-120"/>
              </a:rPr>
              <a:t>Built for email</a:t>
            </a:r>
            <a:endParaRPr lang="en-US" sz="1250" dirty="0"/>
          </a:p>
          <a:p>
            <a:pPr indent="0" marL="0">
              <a:buNone/>
            </a:pPr>
            <a:r>
              <a:rPr lang="en-US" sz="1000" dirty="0">
                <a:solidFill>
                  <a:srgbClr val="465468"/>
                </a:solidFill>
                <a:latin typeface="Arial" pitchFamily="34" charset="0"/>
                <a:ea typeface="Arial" pitchFamily="34" charset="-122"/>
                <a:cs typeface="Arial" pitchFamily="34" charset="-120"/>
              </a:rPr>
              <a:t>SMTP, IMAP, POP3 and STARTTLS end to end, incl. downgrade and plaintext login.</a:t>
            </a:r>
            <a:endParaRPr lang="en-US" sz="1250" dirty="0"/>
          </a:p>
        </p:txBody>
      </p:sp>
      <p:sp>
        <p:nvSpPr>
          <p:cNvPr id="20" name="Shape 14"/>
          <p:cNvSpPr/>
          <p:nvPr/>
        </p:nvSpPr>
        <p:spPr>
          <a:xfrm>
            <a:off x="8778240" y="5029200"/>
            <a:ext cx="3127248" cy="1078992"/>
          </a:xfrm>
          <a:prstGeom prst="roundRect">
            <a:avLst>
              <a:gd name="adj" fmla="val 6780"/>
            </a:avLst>
          </a:prstGeom>
          <a:solidFill>
            <a:srgbClr val="EAF1FB"/>
          </a:solidFill>
          <a:ln w="12700">
            <a:solidFill>
              <a:srgbClr val="1F5AA6"/>
            </a:solidFill>
            <a:prstDash val="solid"/>
          </a:ln>
        </p:spPr>
      </p:sp>
      <p:sp>
        <p:nvSpPr>
          <p:cNvPr id="21" name="Shape 15"/>
          <p:cNvSpPr/>
          <p:nvPr/>
        </p:nvSpPr>
        <p:spPr>
          <a:xfrm>
            <a:off x="8887968" y="5157216"/>
            <a:ext cx="475488" cy="475488"/>
          </a:xfrm>
          <a:prstGeom prst="ellipse">
            <a:avLst/>
          </a:prstGeom>
          <a:solidFill>
            <a:srgbClr val="1F5AA6"/>
          </a:solidFill>
          <a:ln w="12700">
            <a:solidFill>
              <a:srgbClr val="1F5AA6"/>
            </a:solidFill>
            <a:prstDash val="solid"/>
          </a:ln>
        </p:spPr>
      </p:sp>
      <p:pic>
        <p:nvPicPr>
          <p:cNvPr id="22" name="Image 4" descr="preencoded.png">    </p:cNvPr>
          <p:cNvPicPr>
            <a:picLocks noChangeAspect="1"/>
          </p:cNvPicPr>
          <p:nvPr/>
        </p:nvPicPr>
        <p:blipFill>
          <a:blip r:embed="rId5"/>
          <a:stretch>
            <a:fillRect/>
          </a:stretch>
        </p:blipFill>
        <p:spPr>
          <a:xfrm>
            <a:off x="9002085" y="5271333"/>
            <a:ext cx="247254" cy="247254"/>
          </a:xfrm>
          <a:prstGeom prst="rect">
            <a:avLst/>
          </a:prstGeom>
        </p:spPr>
      </p:pic>
      <p:sp>
        <p:nvSpPr>
          <p:cNvPr id="23" name="Text 16"/>
          <p:cNvSpPr txBox="1"/>
          <p:nvPr/>
        </p:nvSpPr>
        <p:spPr>
          <a:xfrm>
            <a:off x="9454896" y="5084064"/>
            <a:ext cx="2377440" cy="969264"/>
          </a:xfrm>
          <a:prstGeom prst="rect">
            <a:avLst/>
          </a:prstGeom>
          <a:noFill/>
          <a:ln/>
        </p:spPr>
        <p:txBody>
          <a:bodyPr wrap="square" lIns="0" tIns="0" rIns="0" bIns="0" rtlCol="0" anchor="ctr"/>
          <a:lstStyle/>
          <a:p>
            <a:pPr indent="0" marL="0">
              <a:buNone/>
            </a:pPr>
            <a:r>
              <a:rPr lang="en-US" sz="1250" b="1" dirty="0">
                <a:solidFill>
                  <a:srgbClr val="13233F"/>
                </a:solidFill>
                <a:latin typeface="Arial" pitchFamily="34" charset="0"/>
                <a:ea typeface="Arial" pitchFamily="34" charset="-122"/>
                <a:cs typeface="Arial" pitchFamily="34" charset="-120"/>
              </a:rPr>
              <a:t>Honest, explainable ML</a:t>
            </a:r>
            <a:endParaRPr lang="en-US" sz="1250" dirty="0"/>
          </a:p>
          <a:p>
            <a:pPr indent="0" marL="0">
              <a:buNone/>
            </a:pPr>
            <a:r>
              <a:rPr lang="en-US" sz="1000" dirty="0">
                <a:solidFill>
                  <a:srgbClr val="465468"/>
                </a:solidFill>
                <a:latin typeface="Arial" pitchFamily="34" charset="0"/>
                <a:ea typeface="Arial" pitchFamily="34" charset="-122"/>
                <a:cs typeface="Arial" pitchFamily="34" charset="-120"/>
              </a:rPr>
              <a:t>Ranks weaker-than-normal sessions; never claims attacks.</a:t>
            </a:r>
            <a:endParaRPr lang="en-US" sz="125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148840" y="164592"/>
            <a:ext cx="7818120" cy="713232"/>
          </a:xfrm>
          <a:prstGeom prst="rect">
            <a:avLst/>
          </a:prstGeom>
          <a:noFill/>
          <a:ln/>
        </p:spPr>
        <p:txBody>
          <a:bodyPr wrap="square" lIns="0" tIns="0" rIns="0" bIns="0" rtlCol="0" anchor="ctr"/>
          <a:lstStyle/>
          <a:p>
            <a:pPr algn="ctr" indent="0" marL="0">
              <a:buNone/>
            </a:pPr>
            <a:r>
              <a:rPr lang="en-US" sz="3200" b="1" dirty="0">
                <a:solidFill>
                  <a:srgbClr val="16202E"/>
                </a:solidFill>
                <a:latin typeface="Times New Roman" pitchFamily="34" charset="0"/>
                <a:ea typeface="Times New Roman" pitchFamily="34" charset="-122"/>
                <a:cs typeface="Times New Roman" pitchFamily="34" charset="-120"/>
              </a:rPr>
              <a:t>RESEARCH AND REFERENCES</a:t>
            </a:r>
            <a:endParaRPr lang="en-US" sz="3200" dirty="0"/>
          </a:p>
        </p:txBody>
      </p:sp>
      <p:sp>
        <p:nvSpPr>
          <p:cNvPr id="3" name="Text 1"/>
          <p:cNvSpPr txBox="1"/>
          <p:nvPr/>
        </p:nvSpPr>
        <p:spPr>
          <a:xfrm>
            <a:off x="320040" y="960120"/>
            <a:ext cx="7818120" cy="310896"/>
          </a:xfrm>
          <a:prstGeom prst="rect">
            <a:avLst/>
          </a:prstGeom>
          <a:noFill/>
          <a:ln/>
        </p:spPr>
        <p:txBody>
          <a:bodyPr wrap="square" lIns="0" tIns="0" rIns="0" bIns="0" rtlCol="0" anchor="ctr"/>
          <a:lstStyle/>
          <a:p>
            <a:pPr indent="0" marL="0">
              <a:buNone/>
            </a:pPr>
            <a:r>
              <a:rPr lang="en-US" sz="1350" b="1" dirty="0">
                <a:solidFill>
                  <a:srgbClr val="13233F"/>
                </a:solidFill>
                <a:latin typeface="Arial" pitchFamily="34" charset="0"/>
                <a:ea typeface="Arial" pitchFamily="34" charset="-122"/>
                <a:cs typeface="Arial" pitchFamily="34" charset="-120"/>
              </a:rPr>
              <a:t>Email and TLS standards</a:t>
            </a:r>
            <a:endParaRPr lang="en-US" sz="1350" dirty="0"/>
          </a:p>
        </p:txBody>
      </p:sp>
      <p:sp>
        <p:nvSpPr>
          <p:cNvPr id="4" name="Text 2"/>
          <p:cNvSpPr txBox="1"/>
          <p:nvPr/>
        </p:nvSpPr>
        <p:spPr>
          <a:xfrm>
            <a:off x="365760" y="1289304"/>
            <a:ext cx="7818120" cy="1783080"/>
          </a:xfrm>
          <a:prstGeom prst="rect">
            <a:avLst/>
          </a:prstGeom>
          <a:noFill/>
          <a:ln/>
        </p:spPr>
        <p:txBody>
          <a:bodyPr wrap="square" lIns="0" tIns="0" rIns="0" bIns="0" rtlCol="0" anchor="t"/>
          <a:lstStyle/>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RFC 3207 - SMTP Service Extension for Secure SMTP over TLS (STARTTLS)</a:t>
            </a:r>
            <a:br/>
            <a:pPr indent="0" marL="0">
              <a:buNone/>
            </a:pPr>
            <a:r>
              <a:rPr lang="en-US" sz="950" u="sng" dirty="0">
                <a:solidFill>
                  <a:srgbClr val="0B57D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https://www.rfc-editor.org/rfc/rfc3207</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RFC 2595 - Using TLS with IMAP, POP3 and ACAP</a:t>
            </a:r>
            <a:br/>
            <a:pPr indent="0" marL="0">
              <a:buNone/>
            </a:pPr>
            <a:r>
              <a:rPr lang="en-US" sz="950" u="sng" dirty="0">
                <a:solidFill>
                  <a:srgbClr val="0B57D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https://www.rfc-editor.org/rfc/rfc2595</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RFC 8314 - Cleartext Considered Obsolete: TLS for Email Submission and Access</a:t>
            </a:r>
            <a:br/>
            <a:pPr indent="0" marL="0">
              <a:buNone/>
            </a:pPr>
            <a:r>
              <a:rPr lang="en-US" sz="950" u="sng" dirty="0">
                <a:solidFill>
                  <a:srgbClr val="0B57D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https://www.rfc-editor.org/rfc/rfc8314</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RFC 8446 - TLS 1.3;  RFC 8996 - Deprecating TLS 1.0 and TLS 1.1</a:t>
            </a:r>
            <a:br/>
            <a:pPr indent="0" marL="0">
              <a:buNone/>
            </a:pPr>
            <a:r>
              <a:rPr lang="en-US" sz="950" u="sng" dirty="0">
                <a:solidFill>
                  <a:srgbClr val="0B57D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https://www.rfc-editor.org/rfc/rfc8996</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RFC 9325 (BCP 195) - Recommendations for Secure Use of TLS</a:t>
            </a:r>
            <a:br/>
            <a:pPr indent="0" marL="0">
              <a:buNone/>
            </a:pPr>
            <a:r>
              <a:rPr lang="en-US" sz="950" u="sng" dirty="0">
                <a:solidFill>
                  <a:srgbClr val="0B57D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https://www.rfc-editor.org/rfc/rfc9325</a:t>
            </a:r>
            <a:endParaRPr lang="en-US" sz="1050" dirty="0"/>
          </a:p>
        </p:txBody>
      </p:sp>
      <p:sp>
        <p:nvSpPr>
          <p:cNvPr id="5" name="Text 3"/>
          <p:cNvSpPr txBox="1"/>
          <p:nvPr/>
        </p:nvSpPr>
        <p:spPr>
          <a:xfrm>
            <a:off x="320040" y="3182112"/>
            <a:ext cx="7818120" cy="310896"/>
          </a:xfrm>
          <a:prstGeom prst="rect">
            <a:avLst/>
          </a:prstGeom>
          <a:noFill/>
          <a:ln/>
        </p:spPr>
        <p:txBody>
          <a:bodyPr wrap="square" lIns="0" tIns="0" rIns="0" bIns="0" rtlCol="0" anchor="ctr"/>
          <a:lstStyle/>
          <a:p>
            <a:pPr indent="0" marL="0">
              <a:buNone/>
            </a:pPr>
            <a:r>
              <a:rPr lang="en-US" sz="1350" b="1" dirty="0">
                <a:solidFill>
                  <a:srgbClr val="13233F"/>
                </a:solidFill>
                <a:latin typeface="Arial" pitchFamily="34" charset="0"/>
                <a:ea typeface="Arial" pitchFamily="34" charset="-122"/>
                <a:cs typeface="Arial" pitchFamily="34" charset="-120"/>
              </a:rPr>
              <a:t>Cryptographic guidance</a:t>
            </a:r>
            <a:endParaRPr lang="en-US" sz="1350" dirty="0"/>
          </a:p>
        </p:txBody>
      </p:sp>
      <p:sp>
        <p:nvSpPr>
          <p:cNvPr id="6" name="Text 4"/>
          <p:cNvSpPr txBox="1"/>
          <p:nvPr/>
        </p:nvSpPr>
        <p:spPr>
          <a:xfrm>
            <a:off x="365760" y="3511296"/>
            <a:ext cx="7818120" cy="1069848"/>
          </a:xfrm>
          <a:prstGeom prst="rect">
            <a:avLst/>
          </a:prstGeom>
          <a:noFill/>
          <a:ln/>
        </p:spPr>
        <p:txBody>
          <a:bodyPr wrap="square" lIns="0" tIns="0" rIns="0" bIns="0" rtlCol="0" anchor="t"/>
          <a:lstStyle/>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NIST SP 800-52 Rev. 2 - Guidelines for TLS Implementations</a:t>
            </a:r>
            <a:br/>
            <a:pPr indent="0" marL="0">
              <a:buNone/>
            </a:pPr>
            <a:r>
              <a:rPr lang="en-US" sz="950" u="sng" dirty="0">
                <a:solidFill>
                  <a:srgbClr val="0B57D0"/>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https://csrc.nist.gov/pubs/sp/800/52/r2/final</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NIST SP 800-57 Part 1 Rev. 5 - Key Management (security strengths)</a:t>
            </a:r>
            <a:br/>
            <a:pPr indent="0" marL="0">
              <a:buNone/>
            </a:pPr>
            <a:r>
              <a:rPr lang="en-US" sz="950" u="sng" dirty="0">
                <a:solidFill>
                  <a:srgbClr val="0B57D0"/>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https://csrc.nist.gov/pubs/sp/800/57/pt1/r5/final</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RFC 5280 - X.509 Certificate and CRL Profile</a:t>
            </a:r>
            <a:br/>
            <a:pPr indent="0" marL="0">
              <a:buNone/>
            </a:pPr>
            <a:r>
              <a:rPr lang="en-US" sz="950" u="sng" dirty="0">
                <a:solidFill>
                  <a:srgbClr val="0B57D0"/>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https://www.rfc-editor.org/rfc/rfc5280</a:t>
            </a:r>
            <a:endParaRPr lang="en-US" sz="1050" dirty="0"/>
          </a:p>
        </p:txBody>
      </p:sp>
      <p:sp>
        <p:nvSpPr>
          <p:cNvPr id="7" name="Text 5"/>
          <p:cNvSpPr txBox="1"/>
          <p:nvPr/>
        </p:nvSpPr>
        <p:spPr>
          <a:xfrm>
            <a:off x="320040" y="4690872"/>
            <a:ext cx="7818120" cy="310896"/>
          </a:xfrm>
          <a:prstGeom prst="rect">
            <a:avLst/>
          </a:prstGeom>
          <a:noFill/>
          <a:ln/>
        </p:spPr>
        <p:txBody>
          <a:bodyPr wrap="square" lIns="0" tIns="0" rIns="0" bIns="0" rtlCol="0" anchor="ctr"/>
          <a:lstStyle/>
          <a:p>
            <a:pPr indent="0" marL="0">
              <a:buNone/>
            </a:pPr>
            <a:r>
              <a:rPr lang="en-US" sz="1350" b="1" dirty="0">
                <a:solidFill>
                  <a:srgbClr val="13233F"/>
                </a:solidFill>
                <a:latin typeface="Arial" pitchFamily="34" charset="0"/>
                <a:ea typeface="Arial" pitchFamily="34" charset="-122"/>
                <a:cs typeface="Arial" pitchFamily="34" charset="-120"/>
              </a:rPr>
              <a:t>ML, exchange formats and data</a:t>
            </a:r>
            <a:endParaRPr lang="en-US" sz="1350" dirty="0"/>
          </a:p>
        </p:txBody>
      </p:sp>
      <p:sp>
        <p:nvSpPr>
          <p:cNvPr id="8" name="Text 6"/>
          <p:cNvSpPr txBox="1"/>
          <p:nvPr/>
        </p:nvSpPr>
        <p:spPr>
          <a:xfrm>
            <a:off x="365760" y="5020056"/>
            <a:ext cx="7818120" cy="1069848"/>
          </a:xfrm>
          <a:prstGeom prst="rect">
            <a:avLst/>
          </a:prstGeom>
          <a:noFill/>
          <a:ln/>
        </p:spPr>
        <p:txBody>
          <a:bodyPr wrap="square" lIns="0" tIns="0" rIns="0" bIns="0" rtlCol="0" anchor="t"/>
          <a:lstStyle/>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Liu, Ting &amp; Zhou - Isolation Forest, IEEE ICDM 2008</a:t>
            </a:r>
            <a:br/>
            <a:pPr indent="0" marL="0">
              <a:buNone/>
            </a:pPr>
            <a:r>
              <a:rPr lang="en-US" sz="950" u="sng" dirty="0">
                <a:solidFill>
                  <a:srgbClr val="0B57D0"/>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https://doi.org/10.1109/ICDM.2008.17</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OASIS STIX Version 2.1 (observations export)</a:t>
            </a:r>
            <a:br/>
            <a:pPr indent="0" marL="0">
              <a:buNone/>
            </a:pPr>
            <a:r>
              <a:rPr lang="en-US" sz="950" u="sng" dirty="0">
                <a:solidFill>
                  <a:srgbClr val="0B57D0"/>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https://docs.oasis-open.org/cti/stix/v2.1/stix-v2.1.html</a:t>
            </a:r>
            <a:endParaRPr lang="en-US" sz="1050" dirty="0"/>
          </a:p>
          <a:p>
            <a:pPr marL="177800" indent="-177800">
              <a:spcAft>
                <a:spcPts val="400"/>
              </a:spcAft>
              <a:buSzPct val="100000"/>
              <a:buChar char="•"/>
            </a:pPr>
            <a:r>
              <a:rPr lang="en-US" sz="1050" b="1" dirty="0">
                <a:solidFill>
                  <a:srgbClr val="16202E"/>
                </a:solidFill>
                <a:latin typeface="Arial" pitchFamily="34" charset="0"/>
                <a:ea typeface="Arial" pitchFamily="34" charset="-122"/>
                <a:cs typeface="Arial" pitchFamily="34" charset="-120"/>
              </a:rPr>
              <a:t>Wireshark wiki Sample Captures (external validation)</a:t>
            </a:r>
            <a:br/>
            <a:pPr indent="0" marL="0">
              <a:buNone/>
            </a:pPr>
            <a:r>
              <a:rPr lang="en-US" sz="950" u="sng" dirty="0">
                <a:solidFill>
                  <a:srgbClr val="0B57D0"/>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https://wiki.wireshark.org/SampleCaptures</a:t>
            </a:r>
            <a:endParaRPr lang="en-US" sz="1050" dirty="0"/>
          </a:p>
        </p:txBody>
      </p:sp>
      <p:sp>
        <p:nvSpPr>
          <p:cNvPr id="9" name="Shape 7"/>
          <p:cNvSpPr/>
          <p:nvPr/>
        </p:nvSpPr>
        <p:spPr>
          <a:xfrm>
            <a:off x="8412480" y="1005840"/>
            <a:ext cx="1645920" cy="1280160"/>
          </a:xfrm>
          <a:prstGeom prst="roundRect">
            <a:avLst>
              <a:gd name="adj" fmla="val 7143"/>
            </a:avLst>
          </a:prstGeom>
          <a:solidFill>
            <a:srgbClr val="13233F"/>
          </a:solidFill>
          <a:ln w="12700">
            <a:solidFill>
              <a:srgbClr val="13233F"/>
            </a:solidFill>
            <a:prstDash val="solid"/>
          </a:ln>
        </p:spPr>
      </p:sp>
      <p:sp>
        <p:nvSpPr>
          <p:cNvPr id="10" name="Text 8"/>
          <p:cNvSpPr txBox="1"/>
          <p:nvPr/>
        </p:nvSpPr>
        <p:spPr>
          <a:xfrm>
            <a:off x="8412480" y="1097280"/>
            <a:ext cx="16459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19</a:t>
            </a:r>
            <a:endParaRPr lang="en-US" sz="3000" dirty="0"/>
          </a:p>
        </p:txBody>
      </p:sp>
      <p:sp>
        <p:nvSpPr>
          <p:cNvPr id="11" name="Text 9"/>
          <p:cNvSpPr txBox="1"/>
          <p:nvPr/>
        </p:nvSpPr>
        <p:spPr>
          <a:xfrm>
            <a:off x="8485632" y="1737360"/>
            <a:ext cx="1499616" cy="457200"/>
          </a:xfrm>
          <a:prstGeom prst="rect">
            <a:avLst/>
          </a:prstGeom>
          <a:noFill/>
          <a:ln/>
        </p:spPr>
        <p:txBody>
          <a:bodyPr wrap="square" lIns="0" tIns="0" rIns="0" bIns="0" rtlCol="0" anchor="t"/>
          <a:lstStyle/>
          <a:p>
            <a:pPr algn="ctr" indent="0" marL="0">
              <a:buNone/>
            </a:pPr>
            <a:r>
              <a:rPr lang="en-US" sz="1000" dirty="0">
                <a:solidFill>
                  <a:srgbClr val="FFFFFF"/>
                </a:solidFill>
                <a:latin typeface="Arial" pitchFamily="34" charset="0"/>
                <a:ea typeface="Arial" pitchFamily="34" charset="-122"/>
                <a:cs typeface="Arial" pitchFamily="34" charset="-120"/>
              </a:rPr>
              <a:t>deterministic rules</a:t>
            </a:r>
            <a:endParaRPr lang="en-US" sz="1000" dirty="0"/>
          </a:p>
        </p:txBody>
      </p:sp>
      <p:sp>
        <p:nvSpPr>
          <p:cNvPr id="12" name="Shape 10"/>
          <p:cNvSpPr/>
          <p:nvPr/>
        </p:nvSpPr>
        <p:spPr>
          <a:xfrm>
            <a:off x="10177272" y="1005840"/>
            <a:ext cx="1645920" cy="1280160"/>
          </a:xfrm>
          <a:prstGeom prst="roundRect">
            <a:avLst>
              <a:gd name="adj" fmla="val 7143"/>
            </a:avLst>
          </a:prstGeom>
          <a:solidFill>
            <a:srgbClr val="1F5AA6"/>
          </a:solidFill>
          <a:ln w="12700">
            <a:solidFill>
              <a:srgbClr val="1F5AA6"/>
            </a:solidFill>
            <a:prstDash val="solid"/>
          </a:ln>
        </p:spPr>
      </p:sp>
      <p:sp>
        <p:nvSpPr>
          <p:cNvPr id="13" name="Text 11"/>
          <p:cNvSpPr txBox="1"/>
          <p:nvPr/>
        </p:nvSpPr>
        <p:spPr>
          <a:xfrm>
            <a:off x="10177272" y="1097280"/>
            <a:ext cx="16459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20</a:t>
            </a:r>
            <a:endParaRPr lang="en-US" sz="3000" dirty="0"/>
          </a:p>
        </p:txBody>
      </p:sp>
      <p:sp>
        <p:nvSpPr>
          <p:cNvPr id="14" name="Text 12"/>
          <p:cNvSpPr txBox="1"/>
          <p:nvPr/>
        </p:nvSpPr>
        <p:spPr>
          <a:xfrm>
            <a:off x="10250424" y="1737360"/>
            <a:ext cx="1499616" cy="457200"/>
          </a:xfrm>
          <a:prstGeom prst="rect">
            <a:avLst/>
          </a:prstGeom>
          <a:noFill/>
          <a:ln/>
        </p:spPr>
        <p:txBody>
          <a:bodyPr wrap="square" lIns="0" tIns="0" rIns="0" bIns="0" rtlCol="0" anchor="t"/>
          <a:lstStyle/>
          <a:p>
            <a:pPr algn="ctr" indent="0" marL="0">
              <a:buNone/>
            </a:pPr>
            <a:r>
              <a:rPr lang="en-US" sz="1000" dirty="0">
                <a:solidFill>
                  <a:srgbClr val="FFFFFF"/>
                </a:solidFill>
                <a:latin typeface="Arial" pitchFamily="34" charset="0"/>
                <a:ea typeface="Arial" pitchFamily="34" charset="-122"/>
                <a:cs typeface="Arial" pitchFamily="34" charset="-120"/>
              </a:rPr>
              <a:t>real + public validation captures</a:t>
            </a:r>
            <a:endParaRPr lang="en-US" sz="1000" dirty="0"/>
          </a:p>
        </p:txBody>
      </p:sp>
      <p:sp>
        <p:nvSpPr>
          <p:cNvPr id="15" name="Shape 13"/>
          <p:cNvSpPr/>
          <p:nvPr/>
        </p:nvSpPr>
        <p:spPr>
          <a:xfrm>
            <a:off x="8412480" y="2423160"/>
            <a:ext cx="1645920" cy="1280160"/>
          </a:xfrm>
          <a:prstGeom prst="roundRect">
            <a:avLst>
              <a:gd name="adj" fmla="val 7143"/>
            </a:avLst>
          </a:prstGeom>
          <a:solidFill>
            <a:srgbClr val="1E7F3E"/>
          </a:solidFill>
          <a:ln w="12700">
            <a:solidFill>
              <a:srgbClr val="1E7F3E"/>
            </a:solidFill>
            <a:prstDash val="solid"/>
          </a:ln>
        </p:spPr>
      </p:sp>
      <p:sp>
        <p:nvSpPr>
          <p:cNvPr id="16" name="Text 14"/>
          <p:cNvSpPr txBox="1"/>
          <p:nvPr/>
        </p:nvSpPr>
        <p:spPr>
          <a:xfrm>
            <a:off x="8412480" y="2514600"/>
            <a:ext cx="16459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414</a:t>
            </a:r>
            <a:endParaRPr lang="en-US" sz="3000" dirty="0"/>
          </a:p>
        </p:txBody>
      </p:sp>
      <p:sp>
        <p:nvSpPr>
          <p:cNvPr id="17" name="Text 15"/>
          <p:cNvSpPr txBox="1"/>
          <p:nvPr/>
        </p:nvSpPr>
        <p:spPr>
          <a:xfrm>
            <a:off x="8485632" y="3154680"/>
            <a:ext cx="1499616" cy="457200"/>
          </a:xfrm>
          <a:prstGeom prst="rect">
            <a:avLst/>
          </a:prstGeom>
          <a:noFill/>
          <a:ln/>
        </p:spPr>
        <p:txBody>
          <a:bodyPr wrap="square" lIns="0" tIns="0" rIns="0" bIns="0" rtlCol="0" anchor="t"/>
          <a:lstStyle/>
          <a:p>
            <a:pPr algn="ctr" indent="0" marL="0">
              <a:buNone/>
            </a:pPr>
            <a:r>
              <a:rPr lang="en-US" sz="1000" dirty="0">
                <a:solidFill>
                  <a:srgbClr val="FFFFFF"/>
                </a:solidFill>
                <a:latin typeface="Arial" pitchFamily="34" charset="0"/>
                <a:ea typeface="Arial" pitchFamily="34" charset="-122"/>
                <a:cs typeface="Arial" pitchFamily="34" charset="-120"/>
              </a:rPr>
              <a:t>automated tests</a:t>
            </a:r>
            <a:endParaRPr lang="en-US" sz="1000" dirty="0"/>
          </a:p>
        </p:txBody>
      </p:sp>
      <p:sp>
        <p:nvSpPr>
          <p:cNvPr id="18" name="Shape 16"/>
          <p:cNvSpPr/>
          <p:nvPr/>
        </p:nvSpPr>
        <p:spPr>
          <a:xfrm>
            <a:off x="10177272" y="2423160"/>
            <a:ext cx="1645920" cy="1280160"/>
          </a:xfrm>
          <a:prstGeom prst="roundRect">
            <a:avLst>
              <a:gd name="adj" fmla="val 7143"/>
            </a:avLst>
          </a:prstGeom>
          <a:solidFill>
            <a:srgbClr val="5E3C99"/>
          </a:solidFill>
          <a:ln w="12700">
            <a:solidFill>
              <a:srgbClr val="5E3C99"/>
            </a:solidFill>
            <a:prstDash val="solid"/>
          </a:ln>
        </p:spPr>
      </p:sp>
      <p:sp>
        <p:nvSpPr>
          <p:cNvPr id="19" name="Text 17"/>
          <p:cNvSpPr txBox="1"/>
          <p:nvPr/>
        </p:nvSpPr>
        <p:spPr>
          <a:xfrm>
            <a:off x="10177272" y="2514600"/>
            <a:ext cx="16459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14</a:t>
            </a:r>
            <a:endParaRPr lang="en-US" sz="3000" dirty="0"/>
          </a:p>
        </p:txBody>
      </p:sp>
      <p:sp>
        <p:nvSpPr>
          <p:cNvPr id="20" name="Text 18"/>
          <p:cNvSpPr txBox="1"/>
          <p:nvPr/>
        </p:nvSpPr>
        <p:spPr>
          <a:xfrm>
            <a:off x="10250424" y="3154680"/>
            <a:ext cx="1499616" cy="457200"/>
          </a:xfrm>
          <a:prstGeom prst="rect">
            <a:avLst/>
          </a:prstGeom>
          <a:noFill/>
          <a:ln/>
        </p:spPr>
        <p:txBody>
          <a:bodyPr wrap="square" lIns="0" tIns="0" rIns="0" bIns="0" rtlCol="0" anchor="t"/>
          <a:lstStyle/>
          <a:p>
            <a:pPr algn="ctr" indent="0" marL="0">
              <a:buNone/>
            </a:pPr>
            <a:r>
              <a:rPr lang="en-US" sz="1000" dirty="0">
                <a:solidFill>
                  <a:srgbClr val="FFFFFF"/>
                </a:solidFill>
                <a:latin typeface="Arial" pitchFamily="34" charset="0"/>
                <a:ea typeface="Arial" pitchFamily="34" charset="-122"/>
                <a:cs typeface="Arial" pitchFamily="34" charset="-120"/>
              </a:rPr>
              <a:t>report sections</a:t>
            </a:r>
            <a:endParaRPr lang="en-US" sz="1000" dirty="0"/>
          </a:p>
        </p:txBody>
      </p:sp>
      <p:sp>
        <p:nvSpPr>
          <p:cNvPr id="21" name="Shape 19"/>
          <p:cNvSpPr/>
          <p:nvPr/>
        </p:nvSpPr>
        <p:spPr>
          <a:xfrm>
            <a:off x="8412480" y="3977640"/>
            <a:ext cx="3410712" cy="2194560"/>
          </a:xfrm>
          <a:prstGeom prst="roundRect">
            <a:avLst>
              <a:gd name="adj" fmla="val 3333"/>
            </a:avLst>
          </a:prstGeom>
          <a:solidFill>
            <a:srgbClr val="F4F6F9"/>
          </a:solidFill>
          <a:ln w="12700">
            <a:solidFill>
              <a:srgbClr val="C9D2DE"/>
            </a:solidFill>
            <a:prstDash val="solid"/>
          </a:ln>
        </p:spPr>
      </p:sp>
      <p:sp>
        <p:nvSpPr>
          <p:cNvPr id="22" name="Text 20"/>
          <p:cNvSpPr txBox="1"/>
          <p:nvPr/>
        </p:nvSpPr>
        <p:spPr>
          <a:xfrm>
            <a:off x="8549640" y="4041648"/>
            <a:ext cx="3200400" cy="329184"/>
          </a:xfrm>
          <a:prstGeom prst="rect">
            <a:avLst/>
          </a:prstGeom>
          <a:noFill/>
          <a:ln/>
        </p:spPr>
        <p:txBody>
          <a:bodyPr wrap="square" lIns="0" tIns="0" rIns="0" bIns="0" rtlCol="0" anchor="ctr"/>
          <a:lstStyle/>
          <a:p>
            <a:pPr indent="0" marL="0">
              <a:buNone/>
            </a:pPr>
            <a:r>
              <a:rPr lang="en-US" sz="1350" b="1" dirty="0">
                <a:solidFill>
                  <a:srgbClr val="13233F"/>
                </a:solidFill>
                <a:latin typeface="Arial" pitchFamily="34" charset="0"/>
                <a:ea typeface="Arial" pitchFamily="34" charset="-122"/>
                <a:cs typeface="Arial" pitchFamily="34" charset="-120"/>
              </a:rPr>
              <a:t>Project resources</a:t>
            </a:r>
            <a:endParaRPr lang="en-US" sz="1350" dirty="0"/>
          </a:p>
        </p:txBody>
      </p:sp>
      <p:pic>
        <p:nvPicPr>
          <p:cNvPr id="23" name="Image 0" descr="preencoded.png">    </p:cNvPr>
          <p:cNvPicPr>
            <a:picLocks noChangeAspect="1"/>
          </p:cNvPicPr>
          <p:nvPr/>
        </p:nvPicPr>
        <p:blipFill>
          <a:blip r:embed="rId12"/>
          <a:stretch>
            <a:fillRect/>
          </a:stretch>
        </p:blipFill>
        <p:spPr>
          <a:xfrm>
            <a:off x="8577072" y="4480560"/>
            <a:ext cx="347472" cy="347472"/>
          </a:xfrm>
          <a:prstGeom prst="rect">
            <a:avLst/>
          </a:prstGeom>
        </p:spPr>
      </p:pic>
      <p:sp>
        <p:nvSpPr>
          <p:cNvPr id="24" name="Text 21"/>
          <p:cNvSpPr txBox="1"/>
          <p:nvPr/>
        </p:nvSpPr>
        <p:spPr>
          <a:xfrm>
            <a:off x="9006840" y="4416552"/>
            <a:ext cx="2743200" cy="502920"/>
          </a:xfrm>
          <a:prstGeom prst="rect">
            <a:avLst/>
          </a:prstGeom>
          <a:noFill/>
          <a:ln/>
        </p:spPr>
        <p:txBody>
          <a:bodyPr wrap="square" lIns="0" tIns="0" rIns="0" bIns="0" rtlCol="0" anchor="ctr"/>
          <a:lstStyle/>
          <a:p>
            <a:pPr indent="0" marL="0">
              <a:buNone/>
            </a:pPr>
            <a:r>
              <a:rPr lang="en-US" sz="1050" b="1" dirty="0">
                <a:solidFill>
                  <a:srgbClr val="16202E"/>
                </a:solidFill>
                <a:latin typeface="Arial" pitchFamily="34" charset="0"/>
                <a:ea typeface="Arial" pitchFamily="34" charset="-122"/>
                <a:cs typeface="Arial" pitchFamily="34" charset="-120"/>
              </a:rPr>
              <a:t>Source code &amp; documentation</a:t>
            </a:r>
            <a:endParaRPr lang="en-US" sz="1050" dirty="0"/>
          </a:p>
          <a:p>
            <a:pPr indent="0" marL="0">
              <a:buNone/>
            </a:pPr>
            <a:r>
              <a:rPr lang="en-US" sz="950" u="sng" dirty="0">
                <a:solidFill>
                  <a:srgbClr val="0B57D0"/>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github.com/Kshitij1425/Secure-mail-protocol</a:t>
            </a:r>
            <a:endParaRPr lang="en-US" sz="1050" dirty="0"/>
          </a:p>
        </p:txBody>
      </p:sp>
      <p:sp>
        <p:nvSpPr>
          <p:cNvPr id="25" name="Text 22"/>
          <p:cNvSpPr txBox="1"/>
          <p:nvPr/>
        </p:nvSpPr>
        <p:spPr>
          <a:xfrm>
            <a:off x="8577072" y="5029200"/>
            <a:ext cx="3154680" cy="1051560"/>
          </a:xfrm>
          <a:prstGeom prst="rect">
            <a:avLst/>
          </a:prstGeom>
          <a:noFill/>
          <a:ln/>
        </p:spPr>
        <p:txBody>
          <a:bodyPr wrap="square" lIns="0" tIns="0" rIns="0" bIns="0" rtlCol="0" anchor="t"/>
          <a:lstStyle/>
          <a:p>
            <a:pPr marL="177800" indent="-177800">
              <a:spcAft>
                <a:spcPts val="300"/>
              </a:spcAft>
              <a:buSzPct val="100000"/>
              <a:buChar char="•"/>
            </a:pPr>
            <a:r>
              <a:rPr lang="en-US" sz="1000" b="1" dirty="0">
                <a:solidFill>
                  <a:srgbClr val="16202E"/>
                </a:solidFill>
                <a:latin typeface="Arial" pitchFamily="34" charset="0"/>
                <a:ea typeface="Arial" pitchFamily="34" charset="-122"/>
                <a:cs typeface="Arial" pitchFamily="34" charset="-120"/>
              </a:rPr>
              <a:t>Problem statement: </a:t>
            </a:r>
            <a:pPr indent="0" marL="0">
              <a:buNone/>
            </a:pPr>
            <a:r>
              <a:rPr lang="en-US" sz="1000" dirty="0">
                <a:solidFill>
                  <a:srgbClr val="16202E"/>
                </a:solidFill>
                <a:latin typeface="Arial" pitchFamily="34" charset="0"/>
                <a:ea typeface="Arial" pitchFamily="34" charset="-122"/>
                <a:cs typeface="Arial" pitchFamily="34" charset="-120"/>
              </a:rPr>
              <a:t>SIH26159 (NTRO), SIH 2026</a:t>
            </a:r>
            <a:endParaRPr lang="en-US" sz="1000" dirty="0"/>
          </a:p>
          <a:p>
            <a:pPr marL="177800" indent="-177800">
              <a:spcAft>
                <a:spcPts val="300"/>
              </a:spcAft>
              <a:buSzPct val="100000"/>
              <a:buChar char="•"/>
            </a:pPr>
            <a:r>
              <a:rPr lang="en-US" sz="1000" dirty="0">
                <a:solidFill>
                  <a:srgbClr val="16202E"/>
                </a:solidFill>
                <a:latin typeface="Arial" pitchFamily="34" charset="0"/>
                <a:ea typeface="Arial" pitchFamily="34" charset="-122"/>
                <a:cs typeface="Arial" pitchFamily="34" charset="-120"/>
              </a:rPr>
              <a:t>Methodology, limitations and ML evaluation in the repository documentation</a:t>
            </a:r>
            <a:endParaRPr lang="en-US" sz="1000" dirty="0"/>
          </a:p>
        </p:txBody>
      </p:sp>
      <p:sp>
        <p:nvSpPr>
          <p:cNvPr id="25" name="Slide Number Placeholder 0"/>
          <p:cNvSpPr>
            <a:spLocks noGrp="1"/>
          </p:cNvSpPr>
          <p:nvPr>
            <p:ph type="sldNum" sz="quarter" idx="4294967295"/>
          </p:nvPr>
        </p:nvSpPr>
        <p:spPr>
          <a:xfrm>
            <a:off x="11384280" y="6528816"/>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SecureMailScope - SIH 2026 Idea Presentation (SIH26159)</dc:title>
  <dc:subject>PptxGenJS Presentation</dc:subject>
  <dc:creator>SecureMailScope team</dc:creator>
  <cp:lastModifiedBy>SecureMailScope team</cp:lastModifiedBy>
  <cp:revision>1</cp:revision>
  <dcterms:created xsi:type="dcterms:W3CDTF">2026-09-27T15:05:44Z</dcterms:created>
  <dcterms:modified xsi:type="dcterms:W3CDTF">2026-09-27T15:05:44Z</dcterms:modified>
</cp:coreProperties>
</file>